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310ebd6-4f88-afeb-0cea-7b5aaa82f290}">
          <p14:sldIdLst>
            <p14:sldId id="256"/>
            <p14:sldId id="257"/>
            <p14:sldId id="258"/>
          </p14:sldIdLst>
        </p14:section>
        <p14:section name="Method" id="{aead715f-1050-7d64-b0d6-d2bd0a81616b}">
          <p14:sldIdLst>
            <p14:sldId id="259"/>
            <p14:sldId id="260"/>
          </p14:sldIdLst>
        </p14:section>
        <p14:section name="Worked Example" id="{572e9da8-88ec-2d66-fa35-c81532bdc446}">
          <p14:sldIdLst>
            <p14:sldId id="261"/>
            <p14:sldId id="262"/>
            <p14:sldId id="263"/>
          </p14:sldIdLst>
        </p14:section>
        <p14:section name="Analysis" id="{8877adac-926f-0e25-3f66-56fafec3aed0}">
          <p14:sldIdLst>
            <p14:sldId id="264"/>
            <p14:sldId id="265"/>
          </p14:sldIdLst>
        </p14:section>
        <p14:section name="Wrap-up" id="{3428831c-cb11-877c-f271-14919e740a3c}">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Saumya Jade. Today I will explain Kruskal's Algorithm, an important topic in Design and Analysis of Algorithms. We will see what it does, how it works on a worked example, how fast it is, and where it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Kruskal's Algorithm finds a Minimum Spanning Tree, or MST, of a connected, weighted graph. It was proposed by Joseph Kruskal in 1956. The idea is simple: always pick the cheapest edge, but never pick an edge that forms a cycle. For example, if we must connect several cities with cable at the lowest total cost, this algorithm gives the answer. The input is a weighted graph, and the output is a tree with V minus 1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learn a few basic terms. A graph is a set of vertices joined by edges. A vertex is a point, like A or B. An edge connects two vertices. In a weighted graph, every edge has a cost, called its weight. A spanning tree connects all the vertices without any cycle. A Minimum Spanning Tree is the spanning tree with the smallest total weight. A cycle is a closed path that returns to its starting vertex. Please remember this key fact: a tree with V vertices always has exactly V minus 1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Kruskal's Algorithm is greedy because it makes the best local choice at every step: it takes the cheapest available edge. It never goes back to change a choice. This is safe because of the cut property: the lightest edge that safely joins two parts of the graph always belongs to some MST. So local choices give a globally best answer. In short: sort the edges, skip any edge that forms a cycle, and stop after V minus 1 edges. Prim's algorithm is also greedy, but it grows one tree from a start vertex, while Kruskal's adds the cheapest edge anywhere. Kruskal's is best for sparse graphs, and Prim's is often better for dense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the steps. First, sort all edges by weight. Then make each vertex its own set. Take the next smallest edge, called u v. Now take the smallest remaining edge, called u v, and ask: would adding it create a cycle? If no, add the edge to the MST and join the two sets. If yes, reject the edge. Then check: does the MST contain V minus 1 edges? If yes, output the MST and end. If no, go back and consider the next smallest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example graph. It has five vertices, A to E, and eight edges. The weights are: A to B is 1, B to C is 2, A to C is 3, B to D is 4, C to D is 5, C to E is 6, D to E is 7, and B to E is 8. On the right, the same edges are sorted in ascending order of weight. Sorting is the first step of Kruskal's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dry run. We go through the sorted edges one by one. A to B, weight 1: A and B are in different sets, so we select it. B to C, weight 2: select it. A to C, weight 3: A and C are already connected through B, so this edge would create a cycle. We reject it. B to D, weight 4: select. C to D, weight 5: C and D are already connected, so we reject it. C to E, weight 6: select. Now we have 4 edges, which is V minus 1, so we stop. D to E and B to E are never checked. The six small graphs show the state after each step: green edges are selected, red dashed edges are rejected, and grey dashed edges are not yet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Minimum Spanning Tree. The selected edges are A to B, B to C, B to D, and C to E. The total weight is 1 plus 2 plus 4 plus 6, which is 13. We have 5 vertices and 4 edges, and 4 is V minus 1. All vertices are connected and there is no cycle. Since all edge weights are different, this MST is unique, and no other spanning tree has a smaller total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pseudocode. We start with an empty MST and make a set for every vertex. We sort the edges. Then, for each edge, we use FIND to get the leader of the set of each end point. If the leaders are different, the edge is safe, so we add it and call UNION. If the leaders are the same, the two vertices are already connected, so the edge would make a cycle. This is the purpose of Union-Find: it detects cycles quickly. With path compression and union by rank, each operation takes almost constant time. The boxes at the bottom show how the sets merge in 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time complexity first. Sorting E edges takes order E log E. The loop runs E times, and each FIND or UNION takes almost constant time, written as alpha of V. So the total time is O of E log E. Since E is at most V squared, this is the same as O of E log V. Now space. Union-Find needs parent and rank arrays of size V, and the MST holds V minus 1 edges. Sorting may need extra space, up to order E with merge sort. So the auxiliary space is O of V plus E. With an in-place sort, the extra space apart from the input graph is only O of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Kruskal's Algorithm is used in network design, such as laying cables and pipelines, in road and railway planning, in electrical wiring, and in clustering in machine learning. Its advantages are that it is simple, it works well on sparse graphs, and it can handle disconnected graphs by giving a spanning forest. Its limitations are that it needs sorting, it can be slower on dense graphs, it needs a Union-Find structure, and it works only on undirected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Kruskal's Algorithm builds an MST by choosing the lightest edges that do not form a cycle. Union-Find detects cycles quickly. In our example, the MST is A to B, B to C, B to D and C to E, with total weight 13. The time complexity is O of E log E. Thank you for listening.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Kruskal’s Algorithm  |  DAA  |  Saumya Jade</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txBox="1"/>
          <p:nvPr/>
        </p:nvSpPr>
        <p:spPr>
          <a:xfrm>
            <a:off x="548640" y="1097280"/>
            <a:ext cx="4206240" cy="1371600"/>
          </a:xfrm>
          <a:prstGeom prst="rect">
            <a:avLst/>
          </a:prstGeom>
          <a:noFill/>
          <a:ln/>
        </p:spPr>
        <p:txBody>
          <a:bodyPr wrap="square" lIns="0" tIns="0" rIns="0" bIns="0" rtlCol="0" anchor="t"/>
          <a:lstStyle/>
          <a:p>
            <a:pPr algn="l" indent="0" marL="0">
              <a:buNone/>
            </a:pPr>
            <a:r>
              <a:rPr lang="en-US" sz="4000" b="1" dirty="0">
                <a:solidFill>
                  <a:schemeClr val="tx2"/>
                </a:solidFill>
                <a:latin typeface="+mj-lt" pitchFamily="34" charset="0"/>
                <a:ea typeface="+mj-lt" pitchFamily="34" charset="-122"/>
                <a:cs typeface="+mj-lt" pitchFamily="34" charset="-120"/>
              </a:rPr>
              <a:t>Kruskal’s Algorithm</a:t>
            </a:r>
            <a:endParaRPr lang="en-US" sz="4000" dirty="0"/>
          </a:p>
        </p:txBody>
      </p:sp>
      <p:sp>
        <p:nvSpPr>
          <p:cNvPr id="4" name="Subtitle"/>
          <p:cNvSpPr txBox="1"/>
          <p:nvPr/>
        </p:nvSpPr>
        <p:spPr>
          <a:xfrm>
            <a:off x="548640" y="2606040"/>
            <a:ext cx="4023360" cy="731520"/>
          </a:xfrm>
          <a:prstGeom prst="rect">
            <a:avLst/>
          </a:prstGeom>
          <a:noFill/>
          <a:ln/>
        </p:spPr>
        <p:txBody>
          <a:bodyPr wrap="square" lIns="0" tIns="0" rIns="0" bIns="0" rtlCol="0" anchor="t"/>
          <a:lstStyle/>
          <a:p>
            <a:pPr algn="l" indent="0" marL="0">
              <a:buNone/>
            </a:pPr>
            <a:r>
              <a:rPr lang="en-US" sz="2000" dirty="0">
                <a:solidFill>
                  <a:schemeClr val="tx1"/>
                </a:solidFill>
              </a:rPr>
              <a:t>Design and Analysis of Algorithms (DAA)</a:t>
            </a:r>
            <a:endParaRPr lang="en-US" sz="2000" dirty="0"/>
          </a:p>
        </p:txBody>
      </p:sp>
      <p:sp>
        <p:nvSpPr>
          <p:cNvPr id="5" name="Tagline"/>
          <p:cNvSpPr txBox="1"/>
          <p:nvPr/>
        </p:nvSpPr>
        <p:spPr>
          <a:xfrm>
            <a:off x="548640" y="3291840"/>
            <a:ext cx="4023360" cy="548640"/>
          </a:xfrm>
          <a:prstGeom prst="rect">
            <a:avLst/>
          </a:prstGeom>
          <a:noFill/>
          <a:ln/>
        </p:spPr>
        <p:txBody>
          <a:bodyPr wrap="square" lIns="0" tIns="0" rIns="0" bIns="0" rtlCol="0" anchor="t"/>
          <a:lstStyle/>
          <a:p>
            <a:pPr algn="l" indent="0" marL="0">
              <a:buNone/>
            </a:pPr>
            <a:r>
              <a:rPr lang="en-US" sz="1600" dirty="0">
                <a:solidFill>
                  <a:schemeClr val="accent4"/>
                </a:solidFill>
              </a:rPr>
              <a:t>Minimum Spanning Tree using the Greedy Method</a:t>
            </a:r>
            <a:endParaRPr lang="en-US" sz="1600" dirty="0"/>
          </a:p>
        </p:txBody>
      </p:sp>
      <p:sp>
        <p:nvSpPr>
          <p:cNvPr id="6" name="Presenter"/>
          <p:cNvSpPr txBox="1"/>
          <p:nvPr/>
        </p:nvSpPr>
        <p:spPr>
          <a:xfrm>
            <a:off x="548640" y="4114800"/>
            <a:ext cx="4023360" cy="365760"/>
          </a:xfrm>
          <a:prstGeom prst="rect">
            <a:avLst/>
          </a:prstGeom>
          <a:noFill/>
          <a:ln/>
        </p:spPr>
        <p:txBody>
          <a:bodyPr wrap="square" lIns="0" tIns="0" rIns="0" bIns="0" rtlCol="0" anchor="ctr"/>
          <a:lstStyle/>
          <a:p>
            <a:pPr algn="l" indent="0" marL="0">
              <a:buNone/>
            </a:pPr>
            <a:r>
              <a:rPr lang="en-US" sz="1800" b="1" dirty="0">
                <a:solidFill>
                  <a:schemeClr val="tx2"/>
                </a:solidFill>
              </a:rPr>
              <a:t>Presented by Saumya Jade</a:t>
            </a:r>
            <a:endParaRPr lang="en-US" sz="1800" dirty="0"/>
          </a:p>
        </p:txBody>
      </p:sp>
      <p:sp>
        <p:nvSpPr>
          <p:cNvPr id="7" name="Title graph edge A-B"/>
          <p:cNvSpPr/>
          <p:nvPr/>
        </p:nvSpPr>
        <p:spPr>
          <a:xfrm flipV="1">
            <a:off x="5001768" y="1527048"/>
            <a:ext cx="2020824" cy="1088136"/>
          </a:xfrm>
          <a:prstGeom prst="line">
            <a:avLst/>
          </a:prstGeom>
          <a:noFill/>
          <a:ln w="50800">
            <a:solidFill>
              <a:schemeClr val="accent2"/>
            </a:solidFill>
            <a:prstDash val="solid"/>
          </a:ln>
        </p:spPr>
      </p:sp>
      <p:sp>
        <p:nvSpPr>
          <p:cNvPr id="8" name="Title graph edge B-C"/>
          <p:cNvSpPr/>
          <p:nvPr/>
        </p:nvSpPr>
        <p:spPr>
          <a:xfrm flipH="1">
            <a:off x="6245352" y="1527048"/>
            <a:ext cx="777240" cy="2176272"/>
          </a:xfrm>
          <a:prstGeom prst="line">
            <a:avLst/>
          </a:prstGeom>
          <a:noFill/>
          <a:ln w="50800">
            <a:solidFill>
              <a:schemeClr val="accent2"/>
            </a:solidFill>
            <a:prstDash val="solid"/>
          </a:ln>
        </p:spPr>
      </p:sp>
      <p:sp>
        <p:nvSpPr>
          <p:cNvPr id="9" name="Title graph edge A-C"/>
          <p:cNvSpPr/>
          <p:nvPr/>
        </p:nvSpPr>
        <p:spPr>
          <a:xfrm>
            <a:off x="5001768" y="2615184"/>
            <a:ext cx="1243584" cy="1088136"/>
          </a:xfrm>
          <a:prstGeom prst="line">
            <a:avLst/>
          </a:prstGeom>
          <a:noFill/>
          <a:ln w="22225">
            <a:solidFill>
              <a:schemeClr val="accent5"/>
            </a:solidFill>
            <a:prstDash val="dash"/>
          </a:ln>
        </p:spPr>
      </p:sp>
      <p:sp>
        <p:nvSpPr>
          <p:cNvPr id="10" name="Title graph edge B-D"/>
          <p:cNvSpPr/>
          <p:nvPr/>
        </p:nvSpPr>
        <p:spPr>
          <a:xfrm>
            <a:off x="7022592" y="1527048"/>
            <a:ext cx="1399032" cy="2176272"/>
          </a:xfrm>
          <a:prstGeom prst="line">
            <a:avLst/>
          </a:prstGeom>
          <a:noFill/>
          <a:ln w="50800">
            <a:solidFill>
              <a:schemeClr val="accent2"/>
            </a:solidFill>
            <a:prstDash val="solid"/>
          </a:ln>
        </p:spPr>
      </p:sp>
      <p:sp>
        <p:nvSpPr>
          <p:cNvPr id="11" name="Title graph edge C-D"/>
          <p:cNvSpPr/>
          <p:nvPr/>
        </p:nvSpPr>
        <p:spPr>
          <a:xfrm>
            <a:off x="6245352" y="3703320"/>
            <a:ext cx="2176272" cy="0"/>
          </a:xfrm>
          <a:prstGeom prst="line">
            <a:avLst/>
          </a:prstGeom>
          <a:noFill/>
          <a:ln w="22225">
            <a:solidFill>
              <a:schemeClr val="accent5"/>
            </a:solidFill>
            <a:prstDash val="dash"/>
          </a:ln>
        </p:spPr>
      </p:sp>
      <p:sp>
        <p:nvSpPr>
          <p:cNvPr id="12" name="Title graph edge C-E"/>
          <p:cNvSpPr/>
          <p:nvPr/>
        </p:nvSpPr>
        <p:spPr>
          <a:xfrm flipV="1">
            <a:off x="6245352" y="2770632"/>
            <a:ext cx="1010412" cy="932688"/>
          </a:xfrm>
          <a:prstGeom prst="line">
            <a:avLst/>
          </a:prstGeom>
          <a:noFill/>
          <a:ln w="50800">
            <a:solidFill>
              <a:schemeClr val="accent2"/>
            </a:solidFill>
            <a:prstDash val="solid"/>
          </a:ln>
        </p:spPr>
      </p:sp>
      <p:sp>
        <p:nvSpPr>
          <p:cNvPr id="13" name="Title graph edge D-E"/>
          <p:cNvSpPr/>
          <p:nvPr/>
        </p:nvSpPr>
        <p:spPr>
          <a:xfrm flipH="1" flipV="1">
            <a:off x="7255764" y="2770632"/>
            <a:ext cx="1165860" cy="932688"/>
          </a:xfrm>
          <a:prstGeom prst="line">
            <a:avLst/>
          </a:prstGeom>
          <a:noFill/>
          <a:ln w="22225">
            <a:solidFill>
              <a:schemeClr val="accent5"/>
            </a:solidFill>
            <a:prstDash val="dash"/>
          </a:ln>
        </p:spPr>
      </p:sp>
      <p:sp>
        <p:nvSpPr>
          <p:cNvPr id="14" name="Title graph edge B-E"/>
          <p:cNvSpPr/>
          <p:nvPr/>
        </p:nvSpPr>
        <p:spPr>
          <a:xfrm>
            <a:off x="7022592" y="1527048"/>
            <a:ext cx="233172" cy="1243584"/>
          </a:xfrm>
          <a:prstGeom prst="line">
            <a:avLst/>
          </a:prstGeom>
          <a:noFill/>
          <a:ln w="22225">
            <a:solidFill>
              <a:schemeClr val="accent5"/>
            </a:solidFill>
            <a:prstDash val="dash"/>
          </a:ln>
        </p:spPr>
      </p:sp>
      <p:sp>
        <p:nvSpPr>
          <p:cNvPr id="15" name="Title graph weight A-B"/>
          <p:cNvSpPr txBox="1"/>
          <p:nvPr/>
        </p:nvSpPr>
        <p:spPr>
          <a:xfrm>
            <a:off x="5865876" y="1952244"/>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16" name="Title graph weight B-C"/>
          <p:cNvSpPr txBox="1"/>
          <p:nvPr/>
        </p:nvSpPr>
        <p:spPr>
          <a:xfrm>
            <a:off x="6487668" y="2496312"/>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2"/>
                </a:solidFill>
              </a:rPr>
              <a:t>2</a:t>
            </a:r>
            <a:endParaRPr lang="en-US" sz="1200" dirty="0"/>
          </a:p>
        </p:txBody>
      </p:sp>
      <p:sp>
        <p:nvSpPr>
          <p:cNvPr id="17" name="Title graph weight A-C"/>
          <p:cNvSpPr txBox="1"/>
          <p:nvPr/>
        </p:nvSpPr>
        <p:spPr>
          <a:xfrm>
            <a:off x="5477256" y="3040380"/>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4"/>
                </a:solidFill>
              </a:rPr>
              <a:t>3</a:t>
            </a:r>
            <a:endParaRPr lang="en-US" sz="1200" dirty="0"/>
          </a:p>
        </p:txBody>
      </p:sp>
      <p:sp>
        <p:nvSpPr>
          <p:cNvPr id="18" name="Title graph weight B-D"/>
          <p:cNvSpPr txBox="1"/>
          <p:nvPr/>
        </p:nvSpPr>
        <p:spPr>
          <a:xfrm>
            <a:off x="7575804" y="2496312"/>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2"/>
                </a:solidFill>
              </a:rPr>
              <a:t>4</a:t>
            </a:r>
            <a:endParaRPr lang="en-US" sz="1200" dirty="0"/>
          </a:p>
        </p:txBody>
      </p:sp>
      <p:sp>
        <p:nvSpPr>
          <p:cNvPr id="19" name="Title graph weight C-D"/>
          <p:cNvSpPr txBox="1"/>
          <p:nvPr/>
        </p:nvSpPr>
        <p:spPr>
          <a:xfrm>
            <a:off x="7187184" y="3584448"/>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4"/>
                </a:solidFill>
              </a:rPr>
              <a:t>5</a:t>
            </a:r>
            <a:endParaRPr lang="en-US" sz="1200" dirty="0"/>
          </a:p>
        </p:txBody>
      </p:sp>
      <p:sp>
        <p:nvSpPr>
          <p:cNvPr id="20" name="Title graph weight C-E"/>
          <p:cNvSpPr txBox="1"/>
          <p:nvPr/>
        </p:nvSpPr>
        <p:spPr>
          <a:xfrm>
            <a:off x="6604254" y="3118104"/>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2"/>
                </a:solidFill>
              </a:rPr>
              <a:t>6</a:t>
            </a:r>
            <a:endParaRPr lang="en-US" sz="1200" dirty="0"/>
          </a:p>
        </p:txBody>
      </p:sp>
      <p:sp>
        <p:nvSpPr>
          <p:cNvPr id="21" name="Title graph weight D-E"/>
          <p:cNvSpPr txBox="1"/>
          <p:nvPr/>
        </p:nvSpPr>
        <p:spPr>
          <a:xfrm>
            <a:off x="7692390" y="3118104"/>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4"/>
                </a:solidFill>
              </a:rPr>
              <a:t>7</a:t>
            </a:r>
            <a:endParaRPr lang="en-US" sz="1200" dirty="0"/>
          </a:p>
        </p:txBody>
      </p:sp>
      <p:sp>
        <p:nvSpPr>
          <p:cNvPr id="22" name="Title graph weight B-E"/>
          <p:cNvSpPr txBox="1"/>
          <p:nvPr/>
        </p:nvSpPr>
        <p:spPr>
          <a:xfrm>
            <a:off x="6992874" y="2029968"/>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4"/>
                </a:solidFill>
              </a:rPr>
              <a:t>8</a:t>
            </a:r>
            <a:endParaRPr lang="en-US" sz="1200" dirty="0"/>
          </a:p>
        </p:txBody>
      </p:sp>
      <p:sp>
        <p:nvSpPr>
          <p:cNvPr id="23" name="Title graph vertex A"/>
          <p:cNvSpPr txBox="1"/>
          <p:nvPr/>
        </p:nvSpPr>
        <p:spPr>
          <a:xfrm>
            <a:off x="4799686" y="2413102"/>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24" name="Title graph vertex B"/>
          <p:cNvSpPr txBox="1"/>
          <p:nvPr/>
        </p:nvSpPr>
        <p:spPr>
          <a:xfrm>
            <a:off x="6820510" y="1324966"/>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5" name="Title graph vertex C"/>
          <p:cNvSpPr txBox="1"/>
          <p:nvPr/>
        </p:nvSpPr>
        <p:spPr>
          <a:xfrm>
            <a:off x="6043270" y="3501238"/>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6" name="Title graph vertex D"/>
          <p:cNvSpPr txBox="1"/>
          <p:nvPr/>
        </p:nvSpPr>
        <p:spPr>
          <a:xfrm>
            <a:off x="8219542" y="3501238"/>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7" name="Title graph vertex E"/>
          <p:cNvSpPr txBox="1"/>
          <p:nvPr/>
        </p:nvSpPr>
        <p:spPr>
          <a:xfrm>
            <a:off x="7053682" y="2568550"/>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28" name="Graph caption"/>
          <p:cNvSpPr txBox="1"/>
          <p:nvPr/>
        </p:nvSpPr>
        <p:spPr>
          <a:xfrm>
            <a:off x="4846320" y="4114800"/>
            <a:ext cx="3657600" cy="274320"/>
          </a:xfrm>
          <a:prstGeom prst="rect">
            <a:avLst/>
          </a:prstGeom>
          <a:noFill/>
          <a:ln/>
        </p:spPr>
        <p:txBody>
          <a:bodyPr wrap="square" lIns="0" tIns="0" rIns="0" bIns="0" rtlCol="0" anchor="ctr"/>
          <a:lstStyle/>
          <a:p>
            <a:pPr algn="ctr" indent="0" marL="0">
              <a:buNone/>
            </a:pPr>
            <a:r>
              <a:rPr lang="en-US" sz="1200" dirty="0">
                <a:solidFill>
                  <a:schemeClr val="accent4"/>
                </a:solidFill>
              </a:rPr>
              <a:t>Example graph: MST weight = 13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Introduction and Purpose</a:t>
            </a:r>
            <a:endParaRPr lang="en-US" sz="3000" dirty="0"/>
          </a:p>
        </p:txBody>
      </p:sp>
      <p:sp>
        <p:nvSpPr>
          <p:cNvPr id="4" name="Intro bullets"/>
          <p:cNvSpPr txBox="1"/>
          <p:nvPr/>
        </p:nvSpPr>
        <p:spPr>
          <a:xfrm>
            <a:off x="457200" y="1188720"/>
            <a:ext cx="448056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Finds a Minimum Spanning Tree (MST) of a connected, weighted, undirected graph</a:t>
            </a:r>
            <a:endParaRPr lang="en-US" sz="1600" dirty="0"/>
          </a:p>
          <a:p>
            <a:pPr marL="342900" indent="-342900">
              <a:spcAft>
                <a:spcPts val="800"/>
              </a:spcAft>
              <a:buSzPct val="100000"/>
              <a:buChar char="•"/>
            </a:pPr>
            <a:r>
              <a:rPr lang="en-US" sz="1600" dirty="0">
                <a:solidFill>
                  <a:schemeClr val="tx1"/>
                </a:solidFill>
              </a:rPr>
              <a:t>Proposed by Joseph Kruskal in 1956</a:t>
            </a:r>
            <a:endParaRPr lang="en-US" sz="1600" dirty="0"/>
          </a:p>
          <a:p>
            <a:pPr marL="342900" indent="-342900">
              <a:spcAft>
                <a:spcPts val="800"/>
              </a:spcAft>
              <a:buSzPct val="100000"/>
              <a:buChar char="•"/>
            </a:pPr>
            <a:r>
              <a:rPr lang="en-US" sz="1600" dirty="0">
                <a:solidFill>
                  <a:schemeClr val="tx1"/>
                </a:solidFill>
              </a:rPr>
              <a:t>Core idea: pick the cheapest edge that does not form a cycle</a:t>
            </a:r>
            <a:endParaRPr lang="en-US" sz="1600" dirty="0"/>
          </a:p>
          <a:p>
            <a:pPr marL="342900" indent="-342900">
              <a:spcAft>
                <a:spcPts val="800"/>
              </a:spcAft>
              <a:buSzPct val="100000"/>
              <a:buChar char="•"/>
            </a:pPr>
            <a:r>
              <a:rPr lang="en-US" sz="1600" dirty="0">
                <a:solidFill>
                  <a:schemeClr val="tx1"/>
                </a:solidFill>
              </a:rPr>
              <a:t>Purpose: connect all vertices at the lowest total cost</a:t>
            </a:r>
            <a:endParaRPr lang="en-US" sz="1600" dirty="0"/>
          </a:p>
          <a:p>
            <a:pPr marL="342900" indent="-342900">
              <a:spcAft>
                <a:spcPts val="800"/>
              </a:spcAft>
              <a:buSzPct val="100000"/>
              <a:buChar char="•"/>
            </a:pPr>
            <a:r>
              <a:rPr lang="en-US" sz="1600" dirty="0">
                <a:solidFill>
                  <a:schemeClr val="tx1"/>
                </a:solidFill>
              </a:rPr>
              <a:t>Example: lay cable between cities at minimum cost</a:t>
            </a:r>
            <a:endParaRPr lang="en-US" sz="1600" dirty="0"/>
          </a:p>
        </p:txBody>
      </p:sp>
      <p:sp>
        <p:nvSpPr>
          <p:cNvPr id="5" name="Input card"/>
          <p:cNvSpPr txBox="1"/>
          <p:nvPr/>
        </p:nvSpPr>
        <p:spPr>
          <a:xfrm>
            <a:off x="5394960" y="1188720"/>
            <a:ext cx="3291840" cy="868680"/>
          </a:xfrm>
          <a:prstGeom prst="roundRect">
            <a:avLst>
              <a:gd name="adj" fmla="val 8421"/>
            </a:avLst>
          </a:prstGeom>
          <a:solidFill>
            <a:schemeClr val="bg2"/>
          </a:solidFill>
          <a:ln w="12700">
            <a:solidFill>
              <a:schemeClr val="accent5"/>
            </a:solidFill>
          </a:ln>
        </p:spPr>
        <p:txBody>
          <a:bodyPr wrap="square" lIns="73152" tIns="73152" rIns="73152" bIns="73152" rtlCol="0" anchor="ctr"/>
          <a:lstStyle/>
          <a:p>
            <a:pPr algn="ctr" indent="0" marL="0">
              <a:buNone/>
            </a:pPr>
            <a:r>
              <a:rPr lang="en-US" sz="1600" b="1" dirty="0">
                <a:solidFill>
                  <a:schemeClr val="tx2"/>
                </a:solidFill>
              </a:rPr>
              <a:t>Input</a:t>
            </a:r>
            <a:endParaRPr lang="en-US" sz="1400" dirty="0"/>
          </a:p>
          <a:p>
            <a:pPr algn="ctr" indent="0" marL="0">
              <a:buNone/>
            </a:pPr>
            <a:r>
              <a:rPr lang="en-US" sz="1400" dirty="0">
                <a:solidFill>
                  <a:schemeClr val="tx1"/>
                </a:solidFill>
              </a:rPr>
              <a:t>Connected weighted graph</a:t>
            </a:r>
            <a:endParaRPr lang="en-US" sz="1400" dirty="0"/>
          </a:p>
        </p:txBody>
      </p:sp>
      <p:sp>
        <p:nvSpPr>
          <p:cNvPr id="6" name="Shape 3"/>
          <p:cNvSpPr/>
          <p:nvPr/>
        </p:nvSpPr>
        <p:spPr>
          <a:xfrm>
            <a:off x="7040880" y="2057400"/>
            <a:ext cx="0" cy="320040"/>
          </a:xfrm>
          <a:prstGeom prst="line">
            <a:avLst/>
          </a:prstGeom>
          <a:noFill/>
          <a:ln w="25400">
            <a:solidFill>
              <a:schemeClr val="accent4"/>
            </a:solidFill>
            <a:prstDash val="solid"/>
            <a:tailEnd type="triangle"/>
          </a:ln>
        </p:spPr>
      </p:sp>
      <p:sp>
        <p:nvSpPr>
          <p:cNvPr id="7" name="Process card"/>
          <p:cNvSpPr txBox="1"/>
          <p:nvPr/>
        </p:nvSpPr>
        <p:spPr>
          <a:xfrm>
            <a:off x="5394960" y="2377440"/>
            <a:ext cx="3291840" cy="868680"/>
          </a:xfrm>
          <a:prstGeom prst="roundRect">
            <a:avLst>
              <a:gd name="adj" fmla="val 8421"/>
            </a:avLst>
          </a:prstGeom>
          <a:solidFill>
            <a:schemeClr val="accent1"/>
          </a:solidFill>
          <a:ln w="12700">
            <a:solidFill>
              <a:schemeClr val="accent1"/>
            </a:solidFill>
          </a:ln>
        </p:spPr>
        <p:txBody>
          <a:bodyPr wrap="square" lIns="73152" tIns="73152" rIns="73152" bIns="73152" rtlCol="0" anchor="ctr"/>
          <a:lstStyle/>
          <a:p>
            <a:pPr algn="ctr" indent="0" marL="0">
              <a:buNone/>
            </a:pPr>
            <a:r>
              <a:rPr lang="en-US" sz="1600" b="1" dirty="0">
                <a:solidFill>
                  <a:schemeClr val="bg1"/>
                </a:solidFill>
              </a:rPr>
              <a:t>Kruskal’s Algorithm</a:t>
            </a:r>
            <a:endParaRPr lang="en-US" sz="1400" dirty="0"/>
          </a:p>
          <a:p>
            <a:pPr algn="ctr" indent="0" marL="0">
              <a:buNone/>
            </a:pPr>
            <a:r>
              <a:rPr lang="en-US" sz="1400" dirty="0">
                <a:solidFill>
                  <a:schemeClr val="bg1"/>
                </a:solidFill>
              </a:rPr>
              <a:t>Sort edges, skip cycles</a:t>
            </a:r>
            <a:endParaRPr lang="en-US" sz="1400" dirty="0"/>
          </a:p>
        </p:txBody>
      </p:sp>
      <p:sp>
        <p:nvSpPr>
          <p:cNvPr id="8" name="Shape 5"/>
          <p:cNvSpPr/>
          <p:nvPr/>
        </p:nvSpPr>
        <p:spPr>
          <a:xfrm>
            <a:off x="7040880" y="3246120"/>
            <a:ext cx="0" cy="320040"/>
          </a:xfrm>
          <a:prstGeom prst="line">
            <a:avLst/>
          </a:prstGeom>
          <a:noFill/>
          <a:ln w="25400">
            <a:solidFill>
              <a:schemeClr val="accent4"/>
            </a:solidFill>
            <a:prstDash val="solid"/>
            <a:tailEnd type="triangle"/>
          </a:ln>
        </p:spPr>
      </p:sp>
      <p:sp>
        <p:nvSpPr>
          <p:cNvPr id="9" name="Output card"/>
          <p:cNvSpPr txBox="1"/>
          <p:nvPr/>
        </p:nvSpPr>
        <p:spPr>
          <a:xfrm>
            <a:off x="5394960" y="3566160"/>
            <a:ext cx="3291840" cy="868680"/>
          </a:xfrm>
          <a:prstGeom prst="roundRect">
            <a:avLst>
              <a:gd name="adj" fmla="val 8421"/>
            </a:avLst>
          </a:prstGeom>
          <a:solidFill>
            <a:schemeClr val="accent6"/>
          </a:solidFill>
          <a:ln w="12700">
            <a:solidFill>
              <a:schemeClr val="accent2"/>
            </a:solidFill>
          </a:ln>
        </p:spPr>
        <p:txBody>
          <a:bodyPr wrap="square" lIns="73152" tIns="73152" rIns="73152" bIns="73152" rtlCol="0" anchor="ctr"/>
          <a:lstStyle/>
          <a:p>
            <a:pPr algn="ctr" indent="0" marL="0">
              <a:buNone/>
            </a:pPr>
            <a:r>
              <a:rPr lang="en-US" sz="1600" b="1" dirty="0">
                <a:solidFill>
                  <a:schemeClr val="accent2"/>
                </a:solidFill>
              </a:rPr>
              <a:t>Output</a:t>
            </a:r>
            <a:endParaRPr lang="en-US" sz="1400" dirty="0"/>
          </a:p>
          <a:p>
            <a:pPr algn="ctr" indent="0" marL="0">
              <a:buNone/>
            </a:pPr>
            <a:r>
              <a:rPr lang="en-US" sz="1400" dirty="0">
                <a:solidFill>
                  <a:schemeClr val="tx1"/>
                </a:solidFill>
              </a:rPr>
              <a:t>MST with V − 1 edges and minimum total weight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Basic Concepts</a:t>
            </a:r>
            <a:endParaRPr lang="en-US" sz="3000" dirty="0"/>
          </a:p>
        </p:txBody>
      </p:sp>
      <p:sp>
        <p:nvSpPr>
          <p:cNvPr id="4" name="Concept card Graph"/>
          <p:cNvSpPr txBox="1"/>
          <p:nvPr/>
        </p:nvSpPr>
        <p:spPr>
          <a:xfrm>
            <a:off x="457200" y="1325880"/>
            <a:ext cx="1920240" cy="1371600"/>
          </a:xfrm>
          <a:prstGeom prst="roundRect">
            <a:avLst>
              <a:gd name="adj" fmla="val 5333"/>
            </a:avLst>
          </a:prstGeom>
          <a:solidFill>
            <a:schemeClr val="bg2"/>
          </a:solidFill>
          <a:ln w="12700">
            <a:solidFill>
              <a:schemeClr val="accent5"/>
            </a:solidFill>
          </a:ln>
        </p:spPr>
        <p:txBody>
          <a:bodyPr wrap="square" lIns="137160" tIns="137160" rIns="137160" bIns="137160" rtlCol="0" anchor="t"/>
          <a:lstStyle/>
          <a:p>
            <a:pPr algn="l" indent="0" marL="0">
              <a:spcAft>
                <a:spcPts val="600"/>
              </a:spcAft>
              <a:buNone/>
            </a:pPr>
            <a:r>
              <a:rPr lang="en-US" sz="1700" b="1" dirty="0">
                <a:solidFill>
                  <a:schemeClr val="tx2"/>
                </a:solidFill>
              </a:rPr>
              <a:t>Graph</a:t>
            </a:r>
            <a:endParaRPr lang="en-US" sz="1400" dirty="0"/>
          </a:p>
          <a:p>
            <a:pPr algn="l" indent="0" marL="0">
              <a:buNone/>
            </a:pPr>
            <a:r>
              <a:rPr lang="en-US" sz="1500" dirty="0">
                <a:solidFill>
                  <a:schemeClr val="tx1"/>
                </a:solidFill>
              </a:rPr>
              <a:t>A set of vertices joined by edges</a:t>
            </a:r>
            <a:endParaRPr lang="en-US" sz="1400" dirty="0"/>
          </a:p>
        </p:txBody>
      </p:sp>
      <p:sp>
        <p:nvSpPr>
          <p:cNvPr id="5" name="Concept card Vertex"/>
          <p:cNvSpPr txBox="1"/>
          <p:nvPr/>
        </p:nvSpPr>
        <p:spPr>
          <a:xfrm>
            <a:off x="2560320" y="1325880"/>
            <a:ext cx="1920240" cy="1371600"/>
          </a:xfrm>
          <a:prstGeom prst="roundRect">
            <a:avLst>
              <a:gd name="adj" fmla="val 5333"/>
            </a:avLst>
          </a:prstGeom>
          <a:solidFill>
            <a:schemeClr val="bg2"/>
          </a:solidFill>
          <a:ln w="12700">
            <a:solidFill>
              <a:schemeClr val="accent5"/>
            </a:solidFill>
          </a:ln>
        </p:spPr>
        <p:txBody>
          <a:bodyPr wrap="square" lIns="137160" tIns="137160" rIns="137160" bIns="137160" rtlCol="0" anchor="t"/>
          <a:lstStyle/>
          <a:p>
            <a:pPr algn="l" indent="0" marL="0">
              <a:spcAft>
                <a:spcPts val="600"/>
              </a:spcAft>
              <a:buNone/>
            </a:pPr>
            <a:r>
              <a:rPr lang="en-US" sz="1700" b="1" dirty="0">
                <a:solidFill>
                  <a:schemeClr val="tx2"/>
                </a:solidFill>
              </a:rPr>
              <a:t>Vertex</a:t>
            </a:r>
            <a:endParaRPr lang="en-US" sz="1400" dirty="0"/>
          </a:p>
          <a:p>
            <a:pPr algn="l" indent="0" marL="0">
              <a:buNone/>
            </a:pPr>
            <a:r>
              <a:rPr lang="en-US" sz="1500" dirty="0">
                <a:solidFill>
                  <a:schemeClr val="tx1"/>
                </a:solidFill>
              </a:rPr>
              <a:t>A point or node, e.g. A, B, C</a:t>
            </a:r>
            <a:endParaRPr lang="en-US" sz="1400" dirty="0"/>
          </a:p>
        </p:txBody>
      </p:sp>
      <p:sp>
        <p:nvSpPr>
          <p:cNvPr id="6" name="Concept card Edge"/>
          <p:cNvSpPr txBox="1"/>
          <p:nvPr/>
        </p:nvSpPr>
        <p:spPr>
          <a:xfrm>
            <a:off x="4663440" y="1325880"/>
            <a:ext cx="1920240" cy="1371600"/>
          </a:xfrm>
          <a:prstGeom prst="roundRect">
            <a:avLst>
              <a:gd name="adj" fmla="val 5333"/>
            </a:avLst>
          </a:prstGeom>
          <a:solidFill>
            <a:schemeClr val="bg2"/>
          </a:solidFill>
          <a:ln w="12700">
            <a:solidFill>
              <a:schemeClr val="accent5"/>
            </a:solidFill>
          </a:ln>
        </p:spPr>
        <p:txBody>
          <a:bodyPr wrap="square" lIns="137160" tIns="137160" rIns="137160" bIns="137160" rtlCol="0" anchor="t"/>
          <a:lstStyle/>
          <a:p>
            <a:pPr algn="l" indent="0" marL="0">
              <a:spcAft>
                <a:spcPts val="600"/>
              </a:spcAft>
              <a:buNone/>
            </a:pPr>
            <a:r>
              <a:rPr lang="en-US" sz="1700" b="1" dirty="0">
                <a:solidFill>
                  <a:schemeClr val="tx2"/>
                </a:solidFill>
              </a:rPr>
              <a:t>Edge</a:t>
            </a:r>
            <a:endParaRPr lang="en-US" sz="1400" dirty="0"/>
          </a:p>
          <a:p>
            <a:pPr algn="l" indent="0" marL="0">
              <a:buNone/>
            </a:pPr>
            <a:r>
              <a:rPr lang="en-US" sz="1500" dirty="0">
                <a:solidFill>
                  <a:schemeClr val="tx1"/>
                </a:solidFill>
              </a:rPr>
              <a:t>A link between two vertices</a:t>
            </a:r>
            <a:endParaRPr lang="en-US" sz="1400" dirty="0"/>
          </a:p>
        </p:txBody>
      </p:sp>
      <p:sp>
        <p:nvSpPr>
          <p:cNvPr id="7" name="Concept card Weighted graph"/>
          <p:cNvSpPr txBox="1"/>
          <p:nvPr/>
        </p:nvSpPr>
        <p:spPr>
          <a:xfrm>
            <a:off x="6766560" y="1325880"/>
            <a:ext cx="1920240" cy="1371600"/>
          </a:xfrm>
          <a:prstGeom prst="roundRect">
            <a:avLst>
              <a:gd name="adj" fmla="val 5333"/>
            </a:avLst>
          </a:prstGeom>
          <a:solidFill>
            <a:schemeClr val="bg2"/>
          </a:solidFill>
          <a:ln w="12700">
            <a:solidFill>
              <a:schemeClr val="accent5"/>
            </a:solidFill>
          </a:ln>
        </p:spPr>
        <p:txBody>
          <a:bodyPr wrap="square" lIns="137160" tIns="137160" rIns="137160" bIns="137160" rtlCol="0" anchor="t"/>
          <a:lstStyle/>
          <a:p>
            <a:pPr algn="l" indent="0" marL="0">
              <a:spcAft>
                <a:spcPts val="600"/>
              </a:spcAft>
              <a:buNone/>
            </a:pPr>
            <a:r>
              <a:rPr lang="en-US" sz="1700" b="1" dirty="0">
                <a:solidFill>
                  <a:schemeClr val="tx2"/>
                </a:solidFill>
              </a:rPr>
              <a:t>Weighted graph</a:t>
            </a:r>
            <a:endParaRPr lang="en-US" sz="1400" dirty="0"/>
          </a:p>
          <a:p>
            <a:pPr algn="l" indent="0" marL="0">
              <a:buNone/>
            </a:pPr>
            <a:r>
              <a:rPr lang="en-US" sz="1500" dirty="0">
                <a:solidFill>
                  <a:schemeClr val="tx1"/>
                </a:solidFill>
              </a:rPr>
              <a:t>Every edge has a cost (weight)</a:t>
            </a:r>
            <a:endParaRPr lang="en-US" sz="1400" dirty="0"/>
          </a:p>
        </p:txBody>
      </p:sp>
      <p:sp>
        <p:nvSpPr>
          <p:cNvPr id="8" name="Concept card Spanning tree"/>
          <p:cNvSpPr txBox="1"/>
          <p:nvPr/>
        </p:nvSpPr>
        <p:spPr>
          <a:xfrm>
            <a:off x="457200" y="2880360"/>
            <a:ext cx="1920240" cy="1371600"/>
          </a:xfrm>
          <a:prstGeom prst="roundRect">
            <a:avLst>
              <a:gd name="adj" fmla="val 5333"/>
            </a:avLst>
          </a:prstGeom>
          <a:solidFill>
            <a:schemeClr val="bg2"/>
          </a:solidFill>
          <a:ln w="12700">
            <a:solidFill>
              <a:schemeClr val="accent5"/>
            </a:solidFill>
          </a:ln>
        </p:spPr>
        <p:txBody>
          <a:bodyPr wrap="square" lIns="137160" tIns="137160" rIns="137160" bIns="137160" rtlCol="0" anchor="t"/>
          <a:lstStyle/>
          <a:p>
            <a:pPr algn="l" indent="0" marL="0">
              <a:spcAft>
                <a:spcPts val="600"/>
              </a:spcAft>
              <a:buNone/>
            </a:pPr>
            <a:r>
              <a:rPr lang="en-US" sz="1700" b="1" dirty="0">
                <a:solidFill>
                  <a:schemeClr val="tx2"/>
                </a:solidFill>
              </a:rPr>
              <a:t>Spanning tree</a:t>
            </a:r>
            <a:endParaRPr lang="en-US" sz="1400" dirty="0"/>
          </a:p>
          <a:p>
            <a:pPr algn="l" indent="0" marL="0">
              <a:buNone/>
            </a:pPr>
            <a:r>
              <a:rPr lang="en-US" sz="1500" dirty="0">
                <a:solidFill>
                  <a:schemeClr val="tx1"/>
                </a:solidFill>
              </a:rPr>
              <a:t>Connects all vertices with no cycle</a:t>
            </a:r>
            <a:endParaRPr lang="en-US" sz="1400" dirty="0"/>
          </a:p>
        </p:txBody>
      </p:sp>
      <p:sp>
        <p:nvSpPr>
          <p:cNvPr id="9" name="Concept card MST"/>
          <p:cNvSpPr txBox="1"/>
          <p:nvPr/>
        </p:nvSpPr>
        <p:spPr>
          <a:xfrm>
            <a:off x="2560320" y="2880360"/>
            <a:ext cx="1920240" cy="1371600"/>
          </a:xfrm>
          <a:prstGeom prst="roundRect">
            <a:avLst>
              <a:gd name="adj" fmla="val 5333"/>
            </a:avLst>
          </a:prstGeom>
          <a:solidFill>
            <a:schemeClr val="bg2"/>
          </a:solidFill>
          <a:ln w="12700">
            <a:solidFill>
              <a:schemeClr val="accent5"/>
            </a:solidFill>
          </a:ln>
        </p:spPr>
        <p:txBody>
          <a:bodyPr wrap="square" lIns="137160" tIns="137160" rIns="137160" bIns="137160" rtlCol="0" anchor="t"/>
          <a:lstStyle/>
          <a:p>
            <a:pPr algn="l" indent="0" marL="0">
              <a:spcAft>
                <a:spcPts val="600"/>
              </a:spcAft>
              <a:buNone/>
            </a:pPr>
            <a:r>
              <a:rPr lang="en-US" sz="1700" b="1" dirty="0">
                <a:solidFill>
                  <a:schemeClr val="tx2"/>
                </a:solidFill>
              </a:rPr>
              <a:t>MST</a:t>
            </a:r>
            <a:endParaRPr lang="en-US" sz="1400" dirty="0"/>
          </a:p>
          <a:p>
            <a:pPr algn="l" indent="0" marL="0">
              <a:buNone/>
            </a:pPr>
            <a:r>
              <a:rPr lang="en-US" sz="1500" dirty="0">
                <a:solidFill>
                  <a:schemeClr val="tx1"/>
                </a:solidFill>
              </a:rPr>
              <a:t>Spanning tree with the smallest total weight</a:t>
            </a:r>
            <a:endParaRPr lang="en-US" sz="1400" dirty="0"/>
          </a:p>
        </p:txBody>
      </p:sp>
      <p:sp>
        <p:nvSpPr>
          <p:cNvPr id="10" name="Concept card Cycle"/>
          <p:cNvSpPr txBox="1"/>
          <p:nvPr/>
        </p:nvSpPr>
        <p:spPr>
          <a:xfrm>
            <a:off x="4663440" y="2880360"/>
            <a:ext cx="1920240" cy="1371600"/>
          </a:xfrm>
          <a:prstGeom prst="roundRect">
            <a:avLst>
              <a:gd name="adj" fmla="val 5333"/>
            </a:avLst>
          </a:prstGeom>
          <a:solidFill>
            <a:schemeClr val="bg2"/>
          </a:solidFill>
          <a:ln w="12700">
            <a:solidFill>
              <a:schemeClr val="accent5"/>
            </a:solidFill>
          </a:ln>
        </p:spPr>
        <p:txBody>
          <a:bodyPr wrap="square" lIns="137160" tIns="137160" rIns="137160" bIns="137160" rtlCol="0" anchor="t"/>
          <a:lstStyle/>
          <a:p>
            <a:pPr algn="l" indent="0" marL="0">
              <a:spcAft>
                <a:spcPts val="600"/>
              </a:spcAft>
              <a:buNone/>
            </a:pPr>
            <a:r>
              <a:rPr lang="en-US" sz="1700" b="1" dirty="0">
                <a:solidFill>
                  <a:schemeClr val="tx2"/>
                </a:solidFill>
              </a:rPr>
              <a:t>Cycle</a:t>
            </a:r>
            <a:endParaRPr lang="en-US" sz="1400" dirty="0"/>
          </a:p>
          <a:p>
            <a:pPr algn="l" indent="0" marL="0">
              <a:buNone/>
            </a:pPr>
            <a:r>
              <a:rPr lang="en-US" sz="1500" dirty="0">
                <a:solidFill>
                  <a:schemeClr val="tx1"/>
                </a:solidFill>
              </a:rPr>
              <a:t>A closed path that returns to its start</a:t>
            </a:r>
            <a:endParaRPr lang="en-US" sz="1400" dirty="0"/>
          </a:p>
        </p:txBody>
      </p:sp>
      <p:sp>
        <p:nvSpPr>
          <p:cNvPr id="11" name="Concept card Key fact"/>
          <p:cNvSpPr txBox="1"/>
          <p:nvPr/>
        </p:nvSpPr>
        <p:spPr>
          <a:xfrm>
            <a:off x="6766560" y="2880360"/>
            <a:ext cx="1920240" cy="1371600"/>
          </a:xfrm>
          <a:prstGeom prst="roundRect">
            <a:avLst>
              <a:gd name="adj" fmla="val 5333"/>
            </a:avLst>
          </a:prstGeom>
          <a:solidFill>
            <a:schemeClr val="accent6"/>
          </a:solidFill>
          <a:ln w="12700">
            <a:solidFill>
              <a:schemeClr val="accent2"/>
            </a:solidFill>
          </a:ln>
        </p:spPr>
        <p:txBody>
          <a:bodyPr wrap="square" lIns="137160" tIns="137160" rIns="137160" bIns="137160" rtlCol="0" anchor="t"/>
          <a:lstStyle/>
          <a:p>
            <a:pPr algn="l" indent="0" marL="0">
              <a:spcAft>
                <a:spcPts val="600"/>
              </a:spcAft>
              <a:buNone/>
            </a:pPr>
            <a:r>
              <a:rPr lang="en-US" sz="1700" b="1" dirty="0">
                <a:solidFill>
                  <a:schemeClr val="accent2"/>
                </a:solidFill>
              </a:rPr>
              <a:t>Key fact</a:t>
            </a:r>
            <a:endParaRPr lang="en-US" sz="1400" dirty="0"/>
          </a:p>
          <a:p>
            <a:pPr algn="l" indent="0" marL="0">
              <a:buNone/>
            </a:pPr>
            <a:r>
              <a:rPr lang="en-US" sz="1500" dirty="0">
                <a:solidFill>
                  <a:schemeClr val="tx1"/>
                </a:solidFill>
              </a:rPr>
              <a:t>A tree with V vertices has exactly V − 1 edges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Greedy Approach and How It Works</a:t>
            </a:r>
            <a:endParaRPr lang="en-US" sz="3000" dirty="0"/>
          </a:p>
        </p:txBody>
      </p:sp>
      <p:sp>
        <p:nvSpPr>
          <p:cNvPr id="4" name="Greedy bullets"/>
          <p:cNvSpPr txBox="1"/>
          <p:nvPr/>
        </p:nvSpPr>
        <p:spPr>
          <a:xfrm>
            <a:off x="457200" y="1188720"/>
            <a:ext cx="429768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Greedy: take the best local choice at every step</a:t>
            </a:r>
            <a:endParaRPr lang="en-US" sz="1600" dirty="0"/>
          </a:p>
          <a:p>
            <a:pPr marL="342900" indent="-342900">
              <a:spcAft>
                <a:spcPts val="800"/>
              </a:spcAft>
              <a:buSzPct val="100000"/>
              <a:buChar char="•"/>
            </a:pPr>
            <a:r>
              <a:rPr lang="en-US" sz="1600" dirty="0">
                <a:solidFill>
                  <a:schemeClr val="tx1"/>
                </a:solidFill>
              </a:rPr>
              <a:t>Kruskal’s takes the cheapest edge and never undoes a choice</a:t>
            </a:r>
            <a:endParaRPr lang="en-US" sz="1600" dirty="0"/>
          </a:p>
          <a:p>
            <a:pPr marL="342900" indent="-342900">
              <a:spcAft>
                <a:spcPts val="800"/>
              </a:spcAft>
              <a:buSzPct val="100000"/>
              <a:buChar char="•"/>
            </a:pPr>
            <a:r>
              <a:rPr lang="en-US" sz="1600" dirty="0">
                <a:solidFill>
                  <a:schemeClr val="tx1"/>
                </a:solidFill>
              </a:rPr>
              <a:t>Safe because of the cut property: the lightest edge across any cut belongs to some MST</a:t>
            </a:r>
            <a:endParaRPr lang="en-US" sz="1600" dirty="0"/>
          </a:p>
          <a:p>
            <a:pPr marL="342900" indent="-342900">
              <a:spcAft>
                <a:spcPts val="800"/>
              </a:spcAft>
              <a:buSzPct val="100000"/>
              <a:buChar char="•"/>
            </a:pPr>
            <a:r>
              <a:rPr lang="en-US" sz="1600" dirty="0">
                <a:solidFill>
                  <a:schemeClr val="tx1"/>
                </a:solidFill>
              </a:rPr>
              <a:t>Local choices therefore give a globally minimum tree</a:t>
            </a:r>
            <a:endParaRPr lang="en-US" sz="1600" dirty="0"/>
          </a:p>
        </p:txBody>
      </p:sp>
      <p:sp>
        <p:nvSpPr>
          <p:cNvPr id="5" name="Step chip 1"/>
          <p:cNvSpPr txBox="1"/>
          <p:nvPr/>
        </p:nvSpPr>
        <p:spPr>
          <a:xfrm>
            <a:off x="457200" y="3749040"/>
            <a:ext cx="1371600" cy="777240"/>
          </a:xfrm>
          <a:prstGeom prst="roundRect">
            <a:avLst>
              <a:gd name="adj" fmla="val 9412"/>
            </a:avLst>
          </a:prstGeom>
          <a:solidFill>
            <a:schemeClr val="bg2"/>
          </a:solidFill>
          <a:ln w="12700">
            <a:solidFill>
              <a:schemeClr val="accent5"/>
            </a:solidFill>
          </a:ln>
        </p:spPr>
        <p:txBody>
          <a:bodyPr wrap="square" lIns="73152" tIns="73152" rIns="73152" bIns="73152" rtlCol="0" anchor="ctr"/>
          <a:lstStyle/>
          <a:p>
            <a:pPr algn="ctr" indent="0" marL="0">
              <a:buNone/>
            </a:pPr>
            <a:r>
              <a:rPr lang="en-US" sz="1800" b="1" dirty="0">
                <a:solidFill>
                  <a:schemeClr val="accent2"/>
                </a:solidFill>
              </a:rPr>
              <a:t>1</a:t>
            </a:r>
            <a:endParaRPr lang="en-US" sz="1400" dirty="0"/>
          </a:p>
          <a:p>
            <a:pPr algn="ctr" indent="0" marL="0">
              <a:buNone/>
            </a:pPr>
            <a:r>
              <a:rPr lang="en-US" sz="1400" b="1" dirty="0">
                <a:solidFill>
                  <a:schemeClr val="tx2"/>
                </a:solidFill>
              </a:rPr>
              <a:t>Sort edges</a:t>
            </a:r>
            <a:endParaRPr lang="en-US" sz="1400" dirty="0"/>
          </a:p>
        </p:txBody>
      </p:sp>
      <p:sp>
        <p:nvSpPr>
          <p:cNvPr id="6" name="Step chip 2"/>
          <p:cNvSpPr txBox="1"/>
          <p:nvPr/>
        </p:nvSpPr>
        <p:spPr>
          <a:xfrm>
            <a:off x="1920240" y="3749040"/>
            <a:ext cx="1371600" cy="777240"/>
          </a:xfrm>
          <a:prstGeom prst="roundRect">
            <a:avLst>
              <a:gd name="adj" fmla="val 9412"/>
            </a:avLst>
          </a:prstGeom>
          <a:solidFill>
            <a:schemeClr val="bg2"/>
          </a:solidFill>
          <a:ln w="12700">
            <a:solidFill>
              <a:schemeClr val="accent5"/>
            </a:solidFill>
          </a:ln>
        </p:spPr>
        <p:txBody>
          <a:bodyPr wrap="square" lIns="73152" tIns="73152" rIns="73152" bIns="73152" rtlCol="0" anchor="ctr"/>
          <a:lstStyle/>
          <a:p>
            <a:pPr algn="ctr" indent="0" marL="0">
              <a:buNone/>
            </a:pPr>
            <a:r>
              <a:rPr lang="en-US" sz="1800" b="1" dirty="0">
                <a:solidFill>
                  <a:schemeClr val="accent2"/>
                </a:solidFill>
              </a:rPr>
              <a:t>2</a:t>
            </a:r>
            <a:endParaRPr lang="en-US" sz="1400" dirty="0"/>
          </a:p>
          <a:p>
            <a:pPr algn="ctr" indent="0" marL="0">
              <a:buNone/>
            </a:pPr>
            <a:r>
              <a:rPr lang="en-US" sz="1400" b="1" dirty="0">
                <a:solidFill>
                  <a:schemeClr val="tx2"/>
                </a:solidFill>
              </a:rPr>
              <a:t>Take cheapest</a:t>
            </a:r>
            <a:endParaRPr lang="en-US" sz="1400" dirty="0"/>
          </a:p>
        </p:txBody>
      </p:sp>
      <p:sp>
        <p:nvSpPr>
          <p:cNvPr id="7" name="Step chip 3"/>
          <p:cNvSpPr txBox="1"/>
          <p:nvPr/>
        </p:nvSpPr>
        <p:spPr>
          <a:xfrm>
            <a:off x="3383280" y="3749040"/>
            <a:ext cx="1371600" cy="777240"/>
          </a:xfrm>
          <a:prstGeom prst="roundRect">
            <a:avLst>
              <a:gd name="adj" fmla="val 9412"/>
            </a:avLst>
          </a:prstGeom>
          <a:solidFill>
            <a:schemeClr val="bg2"/>
          </a:solidFill>
          <a:ln w="12700">
            <a:solidFill>
              <a:schemeClr val="accent5"/>
            </a:solidFill>
          </a:ln>
        </p:spPr>
        <p:txBody>
          <a:bodyPr wrap="square" lIns="73152" tIns="73152" rIns="73152" bIns="73152" rtlCol="0" anchor="ctr"/>
          <a:lstStyle/>
          <a:p>
            <a:pPr algn="ctr" indent="0" marL="0">
              <a:buNone/>
            </a:pPr>
            <a:r>
              <a:rPr lang="en-US" sz="1800" b="1" dirty="0">
                <a:solidFill>
                  <a:schemeClr val="accent2"/>
                </a:solidFill>
              </a:rPr>
              <a:t>3</a:t>
            </a:r>
            <a:endParaRPr lang="en-US" sz="1400" dirty="0"/>
          </a:p>
          <a:p>
            <a:pPr algn="ctr" indent="0" marL="0">
              <a:buNone/>
            </a:pPr>
            <a:r>
              <a:rPr lang="en-US" sz="1400" b="1" dirty="0">
                <a:solidFill>
                  <a:schemeClr val="tx2"/>
                </a:solidFill>
              </a:rPr>
              <a:t>Skip cycles</a:t>
            </a:r>
            <a:endParaRPr lang="en-US" sz="1400" dirty="0"/>
          </a:p>
        </p:txBody>
      </p:sp>
      <p:sp>
        <p:nvSpPr>
          <p:cNvPr id="8" name="Text 5"/>
          <p:cNvSpPr txBox="1"/>
          <p:nvPr/>
        </p:nvSpPr>
        <p:spPr>
          <a:xfrm>
            <a:off x="5029200" y="1188720"/>
            <a:ext cx="3657600" cy="320040"/>
          </a:xfrm>
          <a:prstGeom prst="rect">
            <a:avLst/>
          </a:prstGeom>
          <a:noFill/>
          <a:ln/>
        </p:spPr>
        <p:txBody>
          <a:bodyPr wrap="square" lIns="0" tIns="0" rIns="0" bIns="0" rtlCol="0" anchor="ctr"/>
          <a:lstStyle/>
          <a:p>
            <a:pPr indent="0" marL="0">
              <a:buNone/>
            </a:pPr>
            <a:r>
              <a:rPr lang="en-US" sz="1600" b="1" dirty="0">
                <a:solidFill>
                  <a:schemeClr val="tx2"/>
                </a:solidFill>
              </a:rPr>
              <a:t>Prim’s vs Kruskal’s</a:t>
            </a:r>
            <a:endParaRPr lang="en-US" sz="1600" dirty="0"/>
          </a:p>
        </p:txBody>
      </p:sp>
      <p:graphicFrame>
        <p:nvGraphicFramePr>
          <p:cNvPr id="5" name="Prim vs Kruskal table"/>
          <p:cNvGraphicFramePr>
            <a:graphicFrameLocks noGrp="1"/>
          </p:cNvGraphicFramePr>
          <p:nvPr>
            <p:extLst>
              <p:ext uri="{D42A27DB-BD31-4B8C-83A1-F6EECF244321}">
                <p14:modId xmlns:p14="http://schemas.microsoft.com/office/powerpoint/2010/main" val="1579011935"/>
              </p:ext>
            </p:extLst>
          </p:nvPr>
        </p:nvGraphicFramePr>
        <p:xfrm>
          <a:off x="5029200" y="1600200"/>
          <a:ext cx="3657600" cy="914400"/>
        </p:xfrm>
        <a:graphic>
          <a:graphicData uri="http://schemas.openxmlformats.org/drawingml/2006/table">
            <a:tbl>
              <a:tblPr/>
              <a:tblGrid>
                <a:gridCol w="731520"/>
                <a:gridCol w="1463040"/>
                <a:gridCol w="1463040"/>
              </a:tblGrid>
              <a:tr h="365760">
                <a:tc>
                  <a:txBody>
                    <a:bodyPr/>
                    <a:lstStyle/>
                    <a:p>
                      <a:pPr algn="l" indent="0" marL="0">
                        <a:buNone/>
                      </a:pP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Kruskal’s</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Prim’s</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1"/>
                    </a:solidFill>
                  </a:tcPr>
                </a:tc>
              </a:tr>
              <a:tr h="566928">
                <a:tc>
                  <a:txBody>
                    <a:bodyPr/>
                    <a:lstStyle/>
                    <a:p>
                      <a:pPr algn="l" indent="0" marL="0">
                        <a:buNone/>
                      </a:pPr>
                      <a:r>
                        <a:rPr lang="en-US" sz="1300" b="1" dirty="0">
                          <a:solidFill>
                            <a:schemeClr val="tx2"/>
                          </a:solidFill>
                        </a:rPr>
                        <a:t>Grows</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A forest of trees</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One tree from a start vertex</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566928">
                <a:tc>
                  <a:txBody>
                    <a:bodyPr/>
                    <a:lstStyle/>
                    <a:p>
                      <a:pPr algn="l" indent="0" marL="0">
                        <a:buNone/>
                      </a:pPr>
                      <a:r>
                        <a:rPr lang="en-US" sz="1300" b="1" dirty="0">
                          <a:solidFill>
                            <a:schemeClr val="tx2"/>
                          </a:solidFill>
                        </a:rPr>
                        <a:t>Picks</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Cheapest edge anywhere</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Cheapest edge leaving the tree</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566928">
                <a:tc>
                  <a:txBody>
                    <a:bodyPr/>
                    <a:lstStyle/>
                    <a:p>
                      <a:pPr algn="l" indent="0" marL="0">
                        <a:buNone/>
                      </a:pPr>
                      <a:r>
                        <a:rPr lang="en-US" sz="1300" b="1" dirty="0">
                          <a:solidFill>
                            <a:schemeClr val="tx2"/>
                          </a:solidFill>
                        </a:rPr>
                        <a:t>Needs</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Sorting + Union-Find</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Priority queue</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tx2"/>
                          </a:solidFill>
                        </a:rPr>
                        <a:t>Best for</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Sparse graphs</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Dense graphs</a:t>
                      </a:r>
                      <a:endParaRPr lang="en-US" sz="1300" dirty="0"/>
                    </a:p>
                  </a:txBody>
                  <a:tcPr marL="76200" marR="762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Algorithm Steps and Flowchart</a:t>
            </a:r>
            <a:endParaRPr lang="en-US" sz="3000" dirty="0"/>
          </a:p>
        </p:txBody>
      </p:sp>
      <p:sp>
        <p:nvSpPr>
          <p:cNvPr id="4" name="Start"/>
          <p:cNvSpPr txBox="1"/>
          <p:nvPr/>
        </p:nvSpPr>
        <p:spPr>
          <a:xfrm>
            <a:off x="3931920" y="987552"/>
            <a:ext cx="1280160" cy="274320"/>
          </a:xfrm>
          <a:prstGeom prst="roundRect">
            <a:avLst>
              <a:gd name="adj" fmla="val 50000"/>
            </a:avLst>
          </a:prstGeom>
          <a:solidFill>
            <a:schemeClr val="accent1"/>
          </a:solidFill>
          <a:ln w="12700">
            <a:solidFill>
              <a:schemeClr val="accent1"/>
            </a:solidFill>
          </a:ln>
        </p:spPr>
        <p:txBody>
          <a:bodyPr wrap="square" lIns="73152" tIns="73152" rIns="73152" bIns="73152" rtlCol="0" anchor="ctr"/>
          <a:lstStyle/>
          <a:p>
            <a:pPr algn="ctr" indent="0" marL="0">
              <a:buNone/>
            </a:pPr>
            <a:r>
              <a:rPr lang="en-US" sz="1300" b="1" dirty="0">
                <a:solidFill>
                  <a:schemeClr val="bg1"/>
                </a:solidFill>
              </a:rPr>
              <a:t>Start</a:t>
            </a:r>
            <a:endParaRPr lang="en-US" sz="1300" dirty="0"/>
          </a:p>
        </p:txBody>
      </p:sp>
      <p:sp>
        <p:nvSpPr>
          <p:cNvPr id="5" name="Sort edges"/>
          <p:cNvSpPr txBox="1"/>
          <p:nvPr/>
        </p:nvSpPr>
        <p:spPr>
          <a:xfrm>
            <a:off x="3383280" y="1371600"/>
            <a:ext cx="2377440" cy="310896"/>
          </a:xfrm>
          <a:prstGeom prst="roundRect">
            <a:avLst>
              <a:gd name="adj" fmla="val 23529"/>
            </a:avLst>
          </a:prstGeom>
          <a:solidFill>
            <a:schemeClr val="bg2"/>
          </a:solidFill>
          <a:ln w="12700">
            <a:solidFill>
              <a:schemeClr val="accent1"/>
            </a:solidFill>
          </a:ln>
        </p:spPr>
        <p:txBody>
          <a:bodyPr wrap="square" lIns="73152" tIns="73152" rIns="73152" bIns="73152" rtlCol="0" anchor="ctr"/>
          <a:lstStyle/>
          <a:p>
            <a:pPr algn="ctr" indent="0" marL="0">
              <a:buNone/>
            </a:pPr>
            <a:r>
              <a:rPr lang="en-US" sz="1300" b="1" dirty="0">
                <a:solidFill>
                  <a:schemeClr val="tx2"/>
                </a:solidFill>
              </a:rPr>
              <a:t>Sort edges by weight</a:t>
            </a:r>
            <a:endParaRPr lang="en-US" sz="1300" dirty="0"/>
          </a:p>
        </p:txBody>
      </p:sp>
      <p:sp>
        <p:nvSpPr>
          <p:cNvPr id="6" name="Consider edge"/>
          <p:cNvSpPr txBox="1"/>
          <p:nvPr/>
        </p:nvSpPr>
        <p:spPr>
          <a:xfrm>
            <a:off x="2926080" y="1792224"/>
            <a:ext cx="3291840" cy="310896"/>
          </a:xfrm>
          <a:prstGeom prst="roundRect">
            <a:avLst>
              <a:gd name="adj" fmla="val 23529"/>
            </a:avLst>
          </a:prstGeom>
          <a:solidFill>
            <a:schemeClr val="bg2"/>
          </a:solidFill>
          <a:ln w="12700">
            <a:solidFill>
              <a:schemeClr val="accent1"/>
            </a:solidFill>
          </a:ln>
        </p:spPr>
        <p:txBody>
          <a:bodyPr wrap="square" lIns="73152" tIns="73152" rIns="73152" bIns="73152" rtlCol="0" anchor="ctr"/>
          <a:lstStyle/>
          <a:p>
            <a:pPr algn="ctr" indent="0" marL="0">
              <a:buNone/>
            </a:pPr>
            <a:r>
              <a:rPr lang="en-US" sz="1300" b="1" dirty="0">
                <a:solidFill>
                  <a:schemeClr val="tx2"/>
                </a:solidFill>
              </a:rPr>
              <a:t>Consider the smallest remaining edge (u, v)</a:t>
            </a:r>
            <a:endParaRPr lang="en-US" sz="1300" dirty="0"/>
          </a:p>
        </p:txBody>
      </p:sp>
      <p:sp>
        <p:nvSpPr>
          <p:cNvPr id="7" name="Shape 4"/>
          <p:cNvSpPr/>
          <p:nvPr/>
        </p:nvSpPr>
        <p:spPr>
          <a:xfrm>
            <a:off x="4572000" y="1261872"/>
            <a:ext cx="0" cy="109728"/>
          </a:xfrm>
          <a:prstGeom prst="line">
            <a:avLst/>
          </a:prstGeom>
          <a:noFill/>
          <a:ln w="22225">
            <a:solidFill>
              <a:schemeClr val="accent1"/>
            </a:solidFill>
            <a:prstDash val="solid"/>
            <a:tailEnd type="triangle"/>
          </a:ln>
        </p:spPr>
      </p:sp>
      <p:sp>
        <p:nvSpPr>
          <p:cNvPr id="8" name="Shape 5"/>
          <p:cNvSpPr/>
          <p:nvPr/>
        </p:nvSpPr>
        <p:spPr>
          <a:xfrm>
            <a:off x="4572000" y="1682496"/>
            <a:ext cx="0" cy="109728"/>
          </a:xfrm>
          <a:prstGeom prst="line">
            <a:avLst/>
          </a:prstGeom>
          <a:noFill/>
          <a:ln w="22225">
            <a:solidFill>
              <a:schemeClr val="accent1"/>
            </a:solidFill>
            <a:prstDash val="solid"/>
            <a:tailEnd type="triangle"/>
          </a:ln>
        </p:spPr>
      </p:sp>
      <p:sp>
        <p:nvSpPr>
          <p:cNvPr id="9" name="Shape 6"/>
          <p:cNvSpPr/>
          <p:nvPr/>
        </p:nvSpPr>
        <p:spPr>
          <a:xfrm>
            <a:off x="4572000" y="2103120"/>
            <a:ext cx="0" cy="128016"/>
          </a:xfrm>
          <a:prstGeom prst="line">
            <a:avLst/>
          </a:prstGeom>
          <a:noFill/>
          <a:ln w="22225">
            <a:solidFill>
              <a:schemeClr val="accent1"/>
            </a:solidFill>
            <a:prstDash val="solid"/>
            <a:tailEnd type="triangle"/>
          </a:ln>
        </p:spPr>
      </p:sp>
      <p:sp>
        <p:nvSpPr>
          <p:cNvPr id="10" name="Decision cycle"/>
          <p:cNvSpPr/>
          <p:nvPr/>
        </p:nvSpPr>
        <p:spPr>
          <a:xfrm>
            <a:off x="3337560" y="2231136"/>
            <a:ext cx="2468880" cy="786384"/>
          </a:xfrm>
          <a:prstGeom prst="diamond">
            <a:avLst/>
          </a:prstGeom>
          <a:solidFill>
            <a:schemeClr val="bg2"/>
          </a:solidFill>
          <a:ln w="19050">
            <a:solidFill>
              <a:schemeClr val="accent1"/>
            </a:solidFill>
            <a:prstDash val="solid"/>
          </a:ln>
        </p:spPr>
      </p:sp>
      <p:sp>
        <p:nvSpPr>
          <p:cNvPr id="11" name="Decision cycle text"/>
          <p:cNvSpPr txBox="1"/>
          <p:nvPr/>
        </p:nvSpPr>
        <p:spPr>
          <a:xfrm>
            <a:off x="3749040" y="2340864"/>
            <a:ext cx="1645920" cy="566928"/>
          </a:xfrm>
          <a:prstGeom prst="rect">
            <a:avLst/>
          </a:prstGeom>
          <a:noFill/>
          <a:ln/>
        </p:spPr>
        <p:txBody>
          <a:bodyPr wrap="square" lIns="0" tIns="0" rIns="0" bIns="0" rtlCol="0" anchor="ctr"/>
          <a:lstStyle/>
          <a:p>
            <a:pPr algn="ctr" indent="0" marL="0">
              <a:buNone/>
            </a:pPr>
            <a:r>
              <a:rPr lang="en-US" sz="1200" b="1" dirty="0">
                <a:solidFill>
                  <a:schemeClr val="tx2"/>
                </a:solidFill>
              </a:rPr>
              <a:t>Would adding it create a cycle?</a:t>
            </a:r>
            <a:endParaRPr lang="en-US" sz="1200" dirty="0"/>
          </a:p>
        </p:txBody>
      </p:sp>
      <p:sp>
        <p:nvSpPr>
          <p:cNvPr id="12" name="Add edge"/>
          <p:cNvSpPr txBox="1"/>
          <p:nvPr/>
        </p:nvSpPr>
        <p:spPr>
          <a:xfrm>
            <a:off x="914400" y="2368296"/>
            <a:ext cx="2103120" cy="512064"/>
          </a:xfrm>
          <a:prstGeom prst="roundRect">
            <a:avLst>
              <a:gd name="adj" fmla="val 14286"/>
            </a:avLst>
          </a:prstGeom>
          <a:solidFill>
            <a:schemeClr val="accent6"/>
          </a:solidFill>
          <a:ln w="12700">
            <a:solidFill>
              <a:schemeClr val="accent2"/>
            </a:solidFill>
          </a:ln>
        </p:spPr>
        <p:txBody>
          <a:bodyPr wrap="square" lIns="73152" tIns="73152" rIns="73152" bIns="73152" rtlCol="0" anchor="ctr"/>
          <a:lstStyle/>
          <a:p>
            <a:pPr algn="ctr" indent="0" marL="0">
              <a:buNone/>
            </a:pPr>
            <a:r>
              <a:rPr lang="en-US" sz="1200" b="1" dirty="0">
                <a:solidFill>
                  <a:schemeClr val="tx2"/>
                </a:solidFill>
              </a:rPr>
              <a:t>NO: add edge to MST; UNION(u, v)</a:t>
            </a:r>
            <a:endParaRPr lang="en-US" sz="1200" dirty="0"/>
          </a:p>
        </p:txBody>
      </p:sp>
      <p:sp>
        <p:nvSpPr>
          <p:cNvPr id="13" name="Reject edge"/>
          <p:cNvSpPr txBox="1"/>
          <p:nvPr/>
        </p:nvSpPr>
        <p:spPr>
          <a:xfrm>
            <a:off x="6126480" y="2368296"/>
            <a:ext cx="2103120" cy="512064"/>
          </a:xfrm>
          <a:prstGeom prst="roundRect">
            <a:avLst>
              <a:gd name="adj" fmla="val 14286"/>
            </a:avLst>
          </a:prstGeom>
          <a:solidFill>
            <a:schemeClr val="bg1"/>
          </a:solidFill>
          <a:ln w="19050">
            <a:solidFill>
              <a:schemeClr val="accent3"/>
            </a:solidFill>
          </a:ln>
        </p:spPr>
        <p:txBody>
          <a:bodyPr wrap="square" lIns="73152" tIns="73152" rIns="73152" bIns="73152" rtlCol="0" anchor="ctr"/>
          <a:lstStyle/>
          <a:p>
            <a:pPr algn="ctr" indent="0" marL="0">
              <a:buNone/>
            </a:pPr>
            <a:r>
              <a:rPr lang="en-US" sz="1200" b="1" dirty="0">
                <a:solidFill>
                  <a:schemeClr val="accent3"/>
                </a:solidFill>
              </a:rPr>
              <a:t>YES: reject edge (forms a cycle)</a:t>
            </a:r>
            <a:endParaRPr lang="en-US" sz="1200" dirty="0"/>
          </a:p>
        </p:txBody>
      </p:sp>
      <p:sp>
        <p:nvSpPr>
          <p:cNvPr id="14" name="Shape 11"/>
          <p:cNvSpPr/>
          <p:nvPr/>
        </p:nvSpPr>
        <p:spPr>
          <a:xfrm flipH="1">
            <a:off x="3017520" y="2624328"/>
            <a:ext cx="320040" cy="0"/>
          </a:xfrm>
          <a:prstGeom prst="line">
            <a:avLst/>
          </a:prstGeom>
          <a:noFill/>
          <a:ln w="22225">
            <a:solidFill>
              <a:schemeClr val="accent2"/>
            </a:solidFill>
            <a:prstDash val="solid"/>
            <a:tailEnd type="triangle"/>
          </a:ln>
        </p:spPr>
      </p:sp>
      <p:sp>
        <p:nvSpPr>
          <p:cNvPr id="15" name="Shape 12"/>
          <p:cNvSpPr/>
          <p:nvPr/>
        </p:nvSpPr>
        <p:spPr>
          <a:xfrm>
            <a:off x="5806440" y="2624328"/>
            <a:ext cx="320040" cy="0"/>
          </a:xfrm>
          <a:prstGeom prst="line">
            <a:avLst/>
          </a:prstGeom>
          <a:noFill/>
          <a:ln w="22225">
            <a:solidFill>
              <a:schemeClr val="accent3"/>
            </a:solidFill>
            <a:prstDash val="solid"/>
            <a:tailEnd type="triangle"/>
          </a:ln>
        </p:spPr>
      </p:sp>
      <p:sp>
        <p:nvSpPr>
          <p:cNvPr id="16" name="Label NO 3.25"/>
          <p:cNvSpPr txBox="1"/>
          <p:nvPr/>
        </p:nvSpPr>
        <p:spPr>
          <a:xfrm>
            <a:off x="2971800" y="2395728"/>
            <a:ext cx="365760" cy="201168"/>
          </a:xfrm>
          <a:prstGeom prst="rect">
            <a:avLst/>
          </a:prstGeom>
          <a:noFill/>
          <a:ln/>
        </p:spPr>
        <p:txBody>
          <a:bodyPr wrap="square" lIns="0" tIns="0" rIns="0" bIns="0" rtlCol="0" anchor="ctr"/>
          <a:lstStyle/>
          <a:p>
            <a:pPr algn="ctr" indent="0" marL="0">
              <a:buNone/>
            </a:pPr>
            <a:r>
              <a:rPr lang="en-US" sz="1100" b="1" dirty="0">
                <a:solidFill>
                  <a:schemeClr val="accent2"/>
                </a:solidFill>
              </a:rPr>
              <a:t>NO</a:t>
            </a:r>
            <a:endParaRPr lang="en-US" sz="1100" dirty="0"/>
          </a:p>
        </p:txBody>
      </p:sp>
      <p:sp>
        <p:nvSpPr>
          <p:cNvPr id="17" name="Label YES 6.35"/>
          <p:cNvSpPr txBox="1"/>
          <p:nvPr/>
        </p:nvSpPr>
        <p:spPr>
          <a:xfrm>
            <a:off x="5806440" y="2395728"/>
            <a:ext cx="365760" cy="201168"/>
          </a:xfrm>
          <a:prstGeom prst="rect">
            <a:avLst/>
          </a:prstGeom>
          <a:noFill/>
          <a:ln/>
        </p:spPr>
        <p:txBody>
          <a:bodyPr wrap="square" lIns="0" tIns="0" rIns="0" bIns="0" rtlCol="0" anchor="ctr"/>
          <a:lstStyle/>
          <a:p>
            <a:pPr algn="ctr" indent="0" marL="0">
              <a:buNone/>
            </a:pPr>
            <a:r>
              <a:rPr lang="en-US" sz="1100" b="1" dirty="0">
                <a:solidFill>
                  <a:schemeClr val="accent3"/>
                </a:solidFill>
              </a:rPr>
              <a:t>YES</a:t>
            </a:r>
            <a:endParaRPr lang="en-US" sz="1100" dirty="0"/>
          </a:p>
        </p:txBody>
      </p:sp>
      <p:sp>
        <p:nvSpPr>
          <p:cNvPr id="18" name="Shape 15"/>
          <p:cNvSpPr/>
          <p:nvPr/>
        </p:nvSpPr>
        <p:spPr>
          <a:xfrm>
            <a:off x="1965960" y="2880360"/>
            <a:ext cx="0" cy="265176"/>
          </a:xfrm>
          <a:prstGeom prst="line">
            <a:avLst/>
          </a:prstGeom>
          <a:noFill/>
          <a:ln w="22225">
            <a:solidFill>
              <a:schemeClr val="accent1"/>
            </a:solidFill>
            <a:prstDash val="solid"/>
          </a:ln>
        </p:spPr>
      </p:sp>
      <p:sp>
        <p:nvSpPr>
          <p:cNvPr id="19" name="Shape 16"/>
          <p:cNvSpPr/>
          <p:nvPr/>
        </p:nvSpPr>
        <p:spPr>
          <a:xfrm>
            <a:off x="7360920" y="2880360"/>
            <a:ext cx="0" cy="265176"/>
          </a:xfrm>
          <a:prstGeom prst="line">
            <a:avLst/>
          </a:prstGeom>
          <a:noFill/>
          <a:ln w="22225">
            <a:solidFill>
              <a:schemeClr val="accent1"/>
            </a:solidFill>
            <a:prstDash val="solid"/>
          </a:ln>
        </p:spPr>
      </p:sp>
      <p:sp>
        <p:nvSpPr>
          <p:cNvPr id="20" name="Shape 17"/>
          <p:cNvSpPr/>
          <p:nvPr/>
        </p:nvSpPr>
        <p:spPr>
          <a:xfrm>
            <a:off x="1965960" y="3145536"/>
            <a:ext cx="2606040" cy="0"/>
          </a:xfrm>
          <a:prstGeom prst="line">
            <a:avLst/>
          </a:prstGeom>
          <a:noFill/>
          <a:ln w="22225">
            <a:solidFill>
              <a:schemeClr val="accent1"/>
            </a:solidFill>
            <a:prstDash val="solid"/>
          </a:ln>
        </p:spPr>
      </p:sp>
      <p:sp>
        <p:nvSpPr>
          <p:cNvPr id="21" name="Shape 18"/>
          <p:cNvSpPr/>
          <p:nvPr/>
        </p:nvSpPr>
        <p:spPr>
          <a:xfrm flipH="1">
            <a:off x="4572000" y="3145536"/>
            <a:ext cx="2788920" cy="0"/>
          </a:xfrm>
          <a:prstGeom prst="line">
            <a:avLst/>
          </a:prstGeom>
          <a:noFill/>
          <a:ln w="22225">
            <a:solidFill>
              <a:schemeClr val="accent1"/>
            </a:solidFill>
            <a:prstDash val="solid"/>
          </a:ln>
        </p:spPr>
      </p:sp>
      <p:sp>
        <p:nvSpPr>
          <p:cNvPr id="22" name="Shape 19"/>
          <p:cNvSpPr/>
          <p:nvPr/>
        </p:nvSpPr>
        <p:spPr>
          <a:xfrm>
            <a:off x="4572000" y="3145536"/>
            <a:ext cx="0" cy="146304"/>
          </a:xfrm>
          <a:prstGeom prst="line">
            <a:avLst/>
          </a:prstGeom>
          <a:noFill/>
          <a:ln w="22225">
            <a:solidFill>
              <a:schemeClr val="accent1"/>
            </a:solidFill>
            <a:prstDash val="solid"/>
            <a:tailEnd type="triangle"/>
          </a:ln>
        </p:spPr>
      </p:sp>
      <p:sp>
        <p:nvSpPr>
          <p:cNvPr id="23" name="Decision count"/>
          <p:cNvSpPr/>
          <p:nvPr/>
        </p:nvSpPr>
        <p:spPr>
          <a:xfrm>
            <a:off x="3337560" y="3291840"/>
            <a:ext cx="2468880" cy="786384"/>
          </a:xfrm>
          <a:prstGeom prst="diamond">
            <a:avLst/>
          </a:prstGeom>
          <a:solidFill>
            <a:schemeClr val="bg2"/>
          </a:solidFill>
          <a:ln w="19050">
            <a:solidFill>
              <a:schemeClr val="accent1"/>
            </a:solidFill>
            <a:prstDash val="solid"/>
          </a:ln>
        </p:spPr>
      </p:sp>
      <p:sp>
        <p:nvSpPr>
          <p:cNvPr id="24" name="Decision count text"/>
          <p:cNvSpPr txBox="1"/>
          <p:nvPr/>
        </p:nvSpPr>
        <p:spPr>
          <a:xfrm>
            <a:off x="3749040" y="3401568"/>
            <a:ext cx="1645920" cy="566928"/>
          </a:xfrm>
          <a:prstGeom prst="rect">
            <a:avLst/>
          </a:prstGeom>
          <a:noFill/>
          <a:ln/>
        </p:spPr>
        <p:txBody>
          <a:bodyPr wrap="square" lIns="0" tIns="0" rIns="0" bIns="0" rtlCol="0" anchor="ctr"/>
          <a:lstStyle/>
          <a:p>
            <a:pPr algn="ctr" indent="0" marL="0">
              <a:buNone/>
            </a:pPr>
            <a:r>
              <a:rPr lang="en-US" sz="1200" b="1" dirty="0">
                <a:solidFill>
                  <a:schemeClr val="tx2"/>
                </a:solidFill>
              </a:rPr>
              <a:t>Does MST contain V − 1 edges?</a:t>
            </a:r>
            <a:endParaRPr lang="en-US" sz="1200" dirty="0"/>
          </a:p>
        </p:txBody>
      </p:sp>
      <p:sp>
        <p:nvSpPr>
          <p:cNvPr id="25" name="End"/>
          <p:cNvSpPr txBox="1"/>
          <p:nvPr/>
        </p:nvSpPr>
        <p:spPr>
          <a:xfrm>
            <a:off x="3383280" y="4297680"/>
            <a:ext cx="2377440" cy="310896"/>
          </a:xfrm>
          <a:prstGeom prst="roundRect">
            <a:avLst>
              <a:gd name="adj" fmla="val 44118"/>
            </a:avLst>
          </a:prstGeom>
          <a:solidFill>
            <a:schemeClr val="accent1"/>
          </a:solidFill>
          <a:ln w="12700">
            <a:solidFill>
              <a:schemeClr val="accent1"/>
            </a:solidFill>
          </a:ln>
        </p:spPr>
        <p:txBody>
          <a:bodyPr wrap="square" lIns="73152" tIns="73152" rIns="73152" bIns="73152" rtlCol="0" anchor="ctr"/>
          <a:lstStyle/>
          <a:p>
            <a:pPr algn="ctr" indent="0" marL="0">
              <a:buNone/>
            </a:pPr>
            <a:r>
              <a:rPr lang="en-US" sz="1300" b="1" dirty="0">
                <a:solidFill>
                  <a:schemeClr val="bg1"/>
                </a:solidFill>
              </a:rPr>
              <a:t>YES: output MST and end</a:t>
            </a:r>
            <a:endParaRPr lang="en-US" sz="1300" dirty="0"/>
          </a:p>
        </p:txBody>
      </p:sp>
      <p:sp>
        <p:nvSpPr>
          <p:cNvPr id="26" name="Shape 23"/>
          <p:cNvSpPr/>
          <p:nvPr/>
        </p:nvSpPr>
        <p:spPr>
          <a:xfrm>
            <a:off x="4572000" y="4078224"/>
            <a:ext cx="0" cy="219456"/>
          </a:xfrm>
          <a:prstGeom prst="line">
            <a:avLst/>
          </a:prstGeom>
          <a:noFill/>
          <a:ln w="22225">
            <a:solidFill>
              <a:schemeClr val="accent1"/>
            </a:solidFill>
            <a:prstDash val="solid"/>
            <a:tailEnd type="triangle"/>
          </a:ln>
        </p:spPr>
      </p:sp>
      <p:sp>
        <p:nvSpPr>
          <p:cNvPr id="27" name="Label YES 5.1"/>
          <p:cNvSpPr txBox="1"/>
          <p:nvPr/>
        </p:nvSpPr>
        <p:spPr>
          <a:xfrm>
            <a:off x="4663440" y="4114800"/>
            <a:ext cx="365760" cy="201168"/>
          </a:xfrm>
          <a:prstGeom prst="rect">
            <a:avLst/>
          </a:prstGeom>
          <a:noFill/>
          <a:ln/>
        </p:spPr>
        <p:txBody>
          <a:bodyPr wrap="square" lIns="0" tIns="0" rIns="0" bIns="0" rtlCol="0" anchor="ctr"/>
          <a:lstStyle/>
          <a:p>
            <a:pPr algn="ctr" indent="0" marL="0">
              <a:buNone/>
            </a:pPr>
            <a:r>
              <a:rPr lang="en-US" sz="1100" b="1" dirty="0">
                <a:solidFill>
                  <a:schemeClr val="accent2"/>
                </a:solidFill>
              </a:rPr>
              <a:t>YES</a:t>
            </a:r>
            <a:endParaRPr lang="en-US" sz="1100" dirty="0"/>
          </a:p>
        </p:txBody>
      </p:sp>
      <p:sp>
        <p:nvSpPr>
          <p:cNvPr id="28" name="Shape 25"/>
          <p:cNvSpPr/>
          <p:nvPr/>
        </p:nvSpPr>
        <p:spPr>
          <a:xfrm flipH="1">
            <a:off x="548640" y="3685032"/>
            <a:ext cx="2788920" cy="0"/>
          </a:xfrm>
          <a:prstGeom prst="line">
            <a:avLst/>
          </a:prstGeom>
          <a:noFill/>
          <a:ln w="22225">
            <a:solidFill>
              <a:schemeClr val="accent3"/>
            </a:solidFill>
            <a:prstDash val="solid"/>
          </a:ln>
        </p:spPr>
      </p:sp>
      <p:sp>
        <p:nvSpPr>
          <p:cNvPr id="29" name="Shape 26"/>
          <p:cNvSpPr/>
          <p:nvPr/>
        </p:nvSpPr>
        <p:spPr>
          <a:xfrm flipV="1">
            <a:off x="548640" y="1947672"/>
            <a:ext cx="0" cy="1737360"/>
          </a:xfrm>
          <a:prstGeom prst="line">
            <a:avLst/>
          </a:prstGeom>
          <a:noFill/>
          <a:ln w="22225">
            <a:solidFill>
              <a:schemeClr val="accent3"/>
            </a:solidFill>
            <a:prstDash val="solid"/>
          </a:ln>
        </p:spPr>
      </p:sp>
      <p:sp>
        <p:nvSpPr>
          <p:cNvPr id="30" name="Shape 27"/>
          <p:cNvSpPr/>
          <p:nvPr/>
        </p:nvSpPr>
        <p:spPr>
          <a:xfrm>
            <a:off x="548640" y="1947672"/>
            <a:ext cx="2377440" cy="0"/>
          </a:xfrm>
          <a:prstGeom prst="line">
            <a:avLst/>
          </a:prstGeom>
          <a:noFill/>
          <a:ln w="22225">
            <a:solidFill>
              <a:schemeClr val="accent3"/>
            </a:solidFill>
            <a:prstDash val="solid"/>
            <a:tailEnd type="triangle"/>
          </a:ln>
        </p:spPr>
      </p:sp>
      <p:sp>
        <p:nvSpPr>
          <p:cNvPr id="31" name="Label NO 3.1"/>
          <p:cNvSpPr txBox="1"/>
          <p:nvPr/>
        </p:nvSpPr>
        <p:spPr>
          <a:xfrm>
            <a:off x="2834640" y="3474720"/>
            <a:ext cx="365760" cy="201168"/>
          </a:xfrm>
          <a:prstGeom prst="rect">
            <a:avLst/>
          </a:prstGeom>
          <a:noFill/>
          <a:ln/>
        </p:spPr>
        <p:txBody>
          <a:bodyPr wrap="square" lIns="0" tIns="0" rIns="0" bIns="0" rtlCol="0" anchor="ctr"/>
          <a:lstStyle/>
          <a:p>
            <a:pPr algn="ctr" indent="0" marL="0">
              <a:buNone/>
            </a:pPr>
            <a:r>
              <a:rPr lang="en-US" sz="1100" b="1" dirty="0">
                <a:solidFill>
                  <a:schemeClr val="accent3"/>
                </a:solidFill>
              </a:rPr>
              <a:t>NO</a:t>
            </a:r>
            <a:endParaRPr lang="en-US" sz="1100" dirty="0"/>
          </a:p>
        </p:txBody>
      </p:sp>
      <p:sp>
        <p:nvSpPr>
          <p:cNvPr id="32" name="Label next edge 0.7"/>
          <p:cNvSpPr txBox="1"/>
          <p:nvPr/>
        </p:nvSpPr>
        <p:spPr>
          <a:xfrm>
            <a:off x="640080" y="3474720"/>
            <a:ext cx="1097280" cy="201168"/>
          </a:xfrm>
          <a:prstGeom prst="rect">
            <a:avLst/>
          </a:prstGeom>
          <a:noFill/>
          <a:ln/>
        </p:spPr>
        <p:txBody>
          <a:bodyPr wrap="square" lIns="0" tIns="0" rIns="0" bIns="0" rtlCol="0" anchor="ctr"/>
          <a:lstStyle/>
          <a:p>
            <a:pPr algn="ctr" indent="0" marL="0">
              <a:buNone/>
            </a:pPr>
            <a:r>
              <a:rPr lang="en-US" sz="1100" b="1" dirty="0">
                <a:solidFill>
                  <a:schemeClr val="accent3"/>
                </a:solidFill>
              </a:rPr>
              <a:t>next edge</a:t>
            </a:r>
            <a:endParaRPr lang="en-US" sz="1100" dirty="0"/>
          </a:p>
        </p:txBody>
      </p:sp>
      <p:sp>
        <p:nvSpPr>
          <p:cNvPr id="33" name="Cycle test note"/>
          <p:cNvSpPr txBox="1"/>
          <p:nvPr/>
        </p:nvSpPr>
        <p:spPr>
          <a:xfrm>
            <a:off x="6126480" y="3383280"/>
            <a:ext cx="2560320" cy="658368"/>
          </a:xfrm>
          <a:prstGeom prst="roundRect">
            <a:avLst>
              <a:gd name="adj" fmla="val 11111"/>
            </a:avLst>
          </a:prstGeom>
          <a:solidFill>
            <a:schemeClr val="bg2"/>
          </a:solidFill>
          <a:ln w="12700">
            <a:solidFill>
              <a:schemeClr val="accent5"/>
            </a:solidFill>
          </a:ln>
        </p:spPr>
        <p:txBody>
          <a:bodyPr wrap="square" lIns="91440" tIns="91440" rIns="91440" bIns="91440" rtlCol="0" anchor="ctr"/>
          <a:lstStyle/>
          <a:p>
            <a:pPr algn="l" indent="0" marL="0">
              <a:buNone/>
            </a:pPr>
            <a:r>
              <a:rPr lang="en-US" sz="1200" dirty="0">
                <a:solidFill>
                  <a:schemeClr val="tx1"/>
                </a:solidFill>
              </a:rPr>
              <a:t>Cycle test: FIND(u) = FIND(v) means u and v are already connected.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Original Weighted Graph</a:t>
            </a:r>
            <a:endParaRPr lang="en-US" sz="3000" dirty="0"/>
          </a:p>
        </p:txBody>
      </p:sp>
      <p:sp>
        <p:nvSpPr>
          <p:cNvPr id="4" name="Original graph edge A-B"/>
          <p:cNvSpPr/>
          <p:nvPr/>
        </p:nvSpPr>
        <p:spPr>
          <a:xfrm flipV="1">
            <a:off x="731520" y="1417320"/>
            <a:ext cx="2377440" cy="1280160"/>
          </a:xfrm>
          <a:prstGeom prst="line">
            <a:avLst/>
          </a:prstGeom>
          <a:noFill/>
          <a:ln w="25400">
            <a:solidFill>
              <a:schemeClr val="accent4"/>
            </a:solidFill>
            <a:prstDash val="solid"/>
          </a:ln>
        </p:spPr>
      </p:sp>
      <p:sp>
        <p:nvSpPr>
          <p:cNvPr id="5" name="Original graph edge B-C"/>
          <p:cNvSpPr/>
          <p:nvPr/>
        </p:nvSpPr>
        <p:spPr>
          <a:xfrm flipH="1">
            <a:off x="2194560" y="1417320"/>
            <a:ext cx="914400" cy="2560320"/>
          </a:xfrm>
          <a:prstGeom prst="line">
            <a:avLst/>
          </a:prstGeom>
          <a:noFill/>
          <a:ln w="25400">
            <a:solidFill>
              <a:schemeClr val="accent4"/>
            </a:solidFill>
            <a:prstDash val="solid"/>
          </a:ln>
        </p:spPr>
      </p:sp>
      <p:sp>
        <p:nvSpPr>
          <p:cNvPr id="6" name="Original graph edge A-C"/>
          <p:cNvSpPr/>
          <p:nvPr/>
        </p:nvSpPr>
        <p:spPr>
          <a:xfrm>
            <a:off x="731520" y="2697480"/>
            <a:ext cx="1463040" cy="1280160"/>
          </a:xfrm>
          <a:prstGeom prst="line">
            <a:avLst/>
          </a:prstGeom>
          <a:noFill/>
          <a:ln w="25400">
            <a:solidFill>
              <a:schemeClr val="accent4"/>
            </a:solidFill>
            <a:prstDash val="solid"/>
          </a:ln>
        </p:spPr>
      </p:sp>
      <p:sp>
        <p:nvSpPr>
          <p:cNvPr id="7" name="Original graph edge B-D"/>
          <p:cNvSpPr/>
          <p:nvPr/>
        </p:nvSpPr>
        <p:spPr>
          <a:xfrm>
            <a:off x="3108960" y="1417320"/>
            <a:ext cx="1645920" cy="2560320"/>
          </a:xfrm>
          <a:prstGeom prst="line">
            <a:avLst/>
          </a:prstGeom>
          <a:noFill/>
          <a:ln w="25400">
            <a:solidFill>
              <a:schemeClr val="accent4"/>
            </a:solidFill>
            <a:prstDash val="solid"/>
          </a:ln>
        </p:spPr>
      </p:sp>
      <p:sp>
        <p:nvSpPr>
          <p:cNvPr id="8" name="Original graph edge C-D"/>
          <p:cNvSpPr/>
          <p:nvPr/>
        </p:nvSpPr>
        <p:spPr>
          <a:xfrm>
            <a:off x="2194560" y="3977640"/>
            <a:ext cx="2560320" cy="0"/>
          </a:xfrm>
          <a:prstGeom prst="line">
            <a:avLst/>
          </a:prstGeom>
          <a:noFill/>
          <a:ln w="25400">
            <a:solidFill>
              <a:schemeClr val="accent4"/>
            </a:solidFill>
            <a:prstDash val="solid"/>
          </a:ln>
        </p:spPr>
      </p:sp>
      <p:sp>
        <p:nvSpPr>
          <p:cNvPr id="9" name="Original graph edge C-E"/>
          <p:cNvSpPr/>
          <p:nvPr/>
        </p:nvSpPr>
        <p:spPr>
          <a:xfrm flipV="1">
            <a:off x="2194560" y="2880360"/>
            <a:ext cx="1188720" cy="1097280"/>
          </a:xfrm>
          <a:prstGeom prst="line">
            <a:avLst/>
          </a:prstGeom>
          <a:noFill/>
          <a:ln w="25400">
            <a:solidFill>
              <a:schemeClr val="accent4"/>
            </a:solidFill>
            <a:prstDash val="solid"/>
          </a:ln>
        </p:spPr>
      </p:sp>
      <p:sp>
        <p:nvSpPr>
          <p:cNvPr id="10" name="Original graph edge D-E"/>
          <p:cNvSpPr/>
          <p:nvPr/>
        </p:nvSpPr>
        <p:spPr>
          <a:xfrm flipH="1" flipV="1">
            <a:off x="3383280" y="2880360"/>
            <a:ext cx="1371600" cy="1097280"/>
          </a:xfrm>
          <a:prstGeom prst="line">
            <a:avLst/>
          </a:prstGeom>
          <a:noFill/>
          <a:ln w="25400">
            <a:solidFill>
              <a:schemeClr val="accent4"/>
            </a:solidFill>
            <a:prstDash val="solid"/>
          </a:ln>
        </p:spPr>
      </p:sp>
      <p:sp>
        <p:nvSpPr>
          <p:cNvPr id="11" name="Original graph edge B-E"/>
          <p:cNvSpPr/>
          <p:nvPr/>
        </p:nvSpPr>
        <p:spPr>
          <a:xfrm>
            <a:off x="3108960" y="1417320"/>
            <a:ext cx="274320" cy="1463040"/>
          </a:xfrm>
          <a:prstGeom prst="line">
            <a:avLst/>
          </a:prstGeom>
          <a:noFill/>
          <a:ln w="25400">
            <a:solidFill>
              <a:schemeClr val="accent4"/>
            </a:solidFill>
            <a:prstDash val="solid"/>
          </a:ln>
        </p:spPr>
      </p:sp>
      <p:sp>
        <p:nvSpPr>
          <p:cNvPr id="12" name="Original graph weight A-B"/>
          <p:cNvSpPr txBox="1"/>
          <p:nvPr/>
        </p:nvSpPr>
        <p:spPr>
          <a:xfrm>
            <a:off x="1773936" y="193852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3" name="Original graph weight B-C"/>
          <p:cNvSpPr txBox="1"/>
          <p:nvPr/>
        </p:nvSpPr>
        <p:spPr>
          <a:xfrm>
            <a:off x="2505456" y="257860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4" name="Original graph weight A-C"/>
          <p:cNvSpPr txBox="1"/>
          <p:nvPr/>
        </p:nvSpPr>
        <p:spPr>
          <a:xfrm>
            <a:off x="1316736" y="321868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5" name="Original graph weight B-D"/>
          <p:cNvSpPr txBox="1"/>
          <p:nvPr/>
        </p:nvSpPr>
        <p:spPr>
          <a:xfrm>
            <a:off x="3785616" y="257860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6" name="Original graph weight C-D"/>
          <p:cNvSpPr txBox="1"/>
          <p:nvPr/>
        </p:nvSpPr>
        <p:spPr>
          <a:xfrm>
            <a:off x="3328416" y="385876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17" name="Original graph weight C-E"/>
          <p:cNvSpPr txBox="1"/>
          <p:nvPr/>
        </p:nvSpPr>
        <p:spPr>
          <a:xfrm>
            <a:off x="2642616" y="331012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18" name="Original graph weight D-E"/>
          <p:cNvSpPr txBox="1"/>
          <p:nvPr/>
        </p:nvSpPr>
        <p:spPr>
          <a:xfrm>
            <a:off x="3922776" y="331012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tx2"/>
                </a:solidFill>
              </a:rPr>
              <a:t>7</a:t>
            </a:r>
            <a:endParaRPr lang="en-US" sz="1400" dirty="0"/>
          </a:p>
        </p:txBody>
      </p:sp>
      <p:sp>
        <p:nvSpPr>
          <p:cNvPr id="19" name="Original graph weight B-E"/>
          <p:cNvSpPr txBox="1"/>
          <p:nvPr/>
        </p:nvSpPr>
        <p:spPr>
          <a:xfrm>
            <a:off x="3099816" y="202996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tx2"/>
                </a:solidFill>
              </a:rPr>
              <a:t>8</a:t>
            </a:r>
            <a:endParaRPr lang="en-US" sz="1400" dirty="0"/>
          </a:p>
        </p:txBody>
      </p:sp>
      <p:sp>
        <p:nvSpPr>
          <p:cNvPr id="20" name="Original graph vertex A"/>
          <p:cNvSpPr txBox="1"/>
          <p:nvPr/>
        </p:nvSpPr>
        <p:spPr>
          <a:xfrm>
            <a:off x="493776" y="245973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21" name="Original graph vertex B"/>
          <p:cNvSpPr txBox="1"/>
          <p:nvPr/>
        </p:nvSpPr>
        <p:spPr>
          <a:xfrm>
            <a:off x="2871216" y="117957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22" name="Original graph vertex C"/>
          <p:cNvSpPr txBox="1"/>
          <p:nvPr/>
        </p:nvSpPr>
        <p:spPr>
          <a:xfrm>
            <a:off x="1956816" y="373989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23" name="Original graph vertex D"/>
          <p:cNvSpPr txBox="1"/>
          <p:nvPr/>
        </p:nvSpPr>
        <p:spPr>
          <a:xfrm>
            <a:off x="4517136" y="373989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24" name="Original graph vertex E"/>
          <p:cNvSpPr txBox="1"/>
          <p:nvPr/>
        </p:nvSpPr>
        <p:spPr>
          <a:xfrm>
            <a:off x="3145536" y="264261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25" name="Graph caption"/>
          <p:cNvSpPr txBox="1"/>
          <p:nvPr/>
        </p:nvSpPr>
        <p:spPr>
          <a:xfrm>
            <a:off x="457200" y="4389120"/>
            <a:ext cx="4754880" cy="274320"/>
          </a:xfrm>
          <a:prstGeom prst="rect">
            <a:avLst/>
          </a:prstGeom>
          <a:noFill/>
          <a:ln/>
        </p:spPr>
        <p:txBody>
          <a:bodyPr wrap="square" lIns="0" tIns="0" rIns="0" bIns="0" rtlCol="0" anchor="ctr"/>
          <a:lstStyle/>
          <a:p>
            <a:pPr algn="ctr" indent="0" marL="0">
              <a:buNone/>
            </a:pPr>
            <a:r>
              <a:rPr lang="en-US" sz="1300" dirty="0">
                <a:solidFill>
                  <a:schemeClr val="accent4"/>
                </a:solidFill>
              </a:rPr>
              <a:t>5 vertices (A–E), 8 edges</a:t>
            </a:r>
            <a:endParaRPr lang="en-US" sz="1300" dirty="0"/>
          </a:p>
        </p:txBody>
      </p:sp>
      <p:sp>
        <p:nvSpPr>
          <p:cNvPr id="26" name="Text 23"/>
          <p:cNvSpPr txBox="1"/>
          <p:nvPr/>
        </p:nvSpPr>
        <p:spPr>
          <a:xfrm>
            <a:off x="5669280" y="1097280"/>
            <a:ext cx="3017520" cy="320040"/>
          </a:xfrm>
          <a:prstGeom prst="rect">
            <a:avLst/>
          </a:prstGeom>
          <a:noFill/>
          <a:ln/>
        </p:spPr>
        <p:txBody>
          <a:bodyPr wrap="square" lIns="0" tIns="0" rIns="0" bIns="0" rtlCol="0" anchor="ctr"/>
          <a:lstStyle/>
          <a:p>
            <a:pPr indent="0" marL="0">
              <a:buNone/>
            </a:pPr>
            <a:r>
              <a:rPr lang="en-US" sz="1600" b="1" dirty="0">
                <a:solidFill>
                  <a:schemeClr val="tx2"/>
                </a:solidFill>
              </a:rPr>
              <a:t>Edges sorted by weight</a:t>
            </a:r>
            <a:endParaRPr lang="en-US" sz="1600" dirty="0"/>
          </a:p>
        </p:txBody>
      </p:sp>
      <p:graphicFrame>
        <p:nvGraphicFramePr>
          <p:cNvPr id="7" name="Sorted edges table"/>
          <p:cNvGraphicFramePr>
            <a:graphicFrameLocks noGrp="1"/>
          </p:cNvGraphicFramePr>
          <p:nvPr>
            <p:extLst>
              <p:ext uri="{D42A27DB-BD31-4B8C-83A1-F6EECF244321}">
                <p14:modId xmlns:p14="http://schemas.microsoft.com/office/powerpoint/2010/main" val="1579011935"/>
              </p:ext>
            </p:extLst>
          </p:nvPr>
        </p:nvGraphicFramePr>
        <p:xfrm>
          <a:off x="5669280" y="1463040"/>
          <a:ext cx="3017520" cy="914400"/>
        </p:xfrm>
        <a:graphic>
          <a:graphicData uri="http://schemas.openxmlformats.org/drawingml/2006/table">
            <a:tbl>
              <a:tblPr/>
              <a:tblGrid>
                <a:gridCol w="640080"/>
                <a:gridCol w="1280160"/>
                <a:gridCol w="1097280"/>
              </a:tblGrid>
              <a:tr h="329184">
                <a:tc>
                  <a:txBody>
                    <a:bodyPr/>
                    <a:lstStyle/>
                    <a:p>
                      <a:pPr algn="ctr" indent="0" marL="0">
                        <a:buNone/>
                      </a:pPr>
                      <a:r>
                        <a:rPr lang="en-US" sz="1400" b="1" dirty="0">
                          <a:solidFill>
                            <a:schemeClr val="bg1"/>
                          </a:solidFill>
                        </a:rPr>
                        <a:t>#</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Edge</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Weight</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1"/>
                    </a:solidFill>
                  </a:tcPr>
                </a:tc>
              </a:tr>
              <a:tr h="329184">
                <a:tc>
                  <a:txBody>
                    <a:bodyPr/>
                    <a:lstStyle/>
                    <a:p>
                      <a:pPr algn="ctr" indent="0" marL="0">
                        <a:buNone/>
                      </a:pPr>
                      <a:r>
                        <a:rPr lang="en-US" sz="1400" dirty="0">
                          <a:solidFill>
                            <a:schemeClr val="tx1"/>
                          </a:solidFill>
                        </a:rPr>
                        <a:t>1</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A–B</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2</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B–C</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3</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A–C</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4</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B–D</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5</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C–D</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5</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6</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C–E</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7</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D–E</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7</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329184">
                <a:tc>
                  <a:txBody>
                    <a:bodyPr/>
                    <a:lstStyle/>
                    <a:p>
                      <a:pPr algn="ctr" indent="0" marL="0">
                        <a:buNone/>
                      </a:pPr>
                      <a:r>
                        <a:rPr lang="en-US" sz="1400" dirty="0">
                          <a:solidFill>
                            <a:schemeClr val="tx1"/>
                          </a:solidFill>
                        </a:rPr>
                        <a:t>8</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B–E</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a:t>
                      </a:r>
                      <a:endParaRPr lang="en-US" sz="1400" dirty="0"/>
                    </a:p>
                  </a:txBody>
                  <a:tcPr marL="76200" marR="76200" marT="25400" marB="254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Step-by-Step Dry Run</a:t>
            </a:r>
            <a:endParaRPr lang="en-US" sz="3000" dirty="0"/>
          </a:p>
        </p:txBody>
      </p:sp>
      <p:sp>
        <p:nvSpPr>
          <p:cNvPr id="4" name="Step number 1"/>
          <p:cNvSpPr txBox="1"/>
          <p:nvPr/>
        </p:nvSpPr>
        <p:spPr>
          <a:xfrm>
            <a:off x="457200" y="1051560"/>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Step label 1"/>
          <p:cNvSpPr txBox="1"/>
          <p:nvPr/>
        </p:nvSpPr>
        <p:spPr>
          <a:xfrm>
            <a:off x="841248" y="1005840"/>
            <a:ext cx="2240280" cy="411480"/>
          </a:xfrm>
          <a:prstGeom prst="rect">
            <a:avLst/>
          </a:prstGeom>
          <a:noFill/>
          <a:ln/>
        </p:spPr>
        <p:txBody>
          <a:bodyPr wrap="square" lIns="0" tIns="0" rIns="0" bIns="0" rtlCol="0" anchor="ctr"/>
          <a:lstStyle/>
          <a:p>
            <a:pPr indent="0" marL="0">
              <a:buNone/>
            </a:pPr>
            <a:r>
              <a:rPr lang="en-US" sz="1200" b="1" dirty="0">
                <a:solidFill>
                  <a:schemeClr val="tx2"/>
                </a:solidFill>
              </a:rPr>
              <a:t>A–B (1): </a:t>
            </a:r>
            <a:pPr indent="0" marL="0">
              <a:buNone/>
            </a:pPr>
            <a:r>
              <a:rPr lang="en-US" sz="1200" b="1" dirty="0">
                <a:solidFill>
                  <a:schemeClr val="accent2"/>
                </a:solidFill>
              </a:rPr>
              <a:t>SELECT</a:t>
            </a:r>
            <a:endParaRPr lang="en-US" sz="1200" dirty="0"/>
          </a:p>
        </p:txBody>
      </p:sp>
      <p:sp>
        <p:nvSpPr>
          <p:cNvPr id="6" name="Step 1 graph edge A-B"/>
          <p:cNvSpPr/>
          <p:nvPr/>
        </p:nvSpPr>
        <p:spPr>
          <a:xfrm flipV="1">
            <a:off x="1024128" y="1463040"/>
            <a:ext cx="950976" cy="512064"/>
          </a:xfrm>
          <a:prstGeom prst="line">
            <a:avLst/>
          </a:prstGeom>
          <a:noFill/>
          <a:ln w="38100">
            <a:solidFill>
              <a:schemeClr val="accent2"/>
            </a:solidFill>
            <a:prstDash val="solid"/>
          </a:ln>
        </p:spPr>
      </p:sp>
      <p:sp>
        <p:nvSpPr>
          <p:cNvPr id="7" name="Step 1 graph edge B-C"/>
          <p:cNvSpPr/>
          <p:nvPr/>
        </p:nvSpPr>
        <p:spPr>
          <a:xfrm flipH="1">
            <a:off x="1609344" y="1463040"/>
            <a:ext cx="365760" cy="1024128"/>
          </a:xfrm>
          <a:prstGeom prst="line">
            <a:avLst/>
          </a:prstGeom>
          <a:noFill/>
          <a:ln w="15875">
            <a:solidFill>
              <a:schemeClr val="accent5"/>
            </a:solidFill>
            <a:prstDash val="dash"/>
          </a:ln>
        </p:spPr>
      </p:sp>
      <p:sp>
        <p:nvSpPr>
          <p:cNvPr id="8" name="Step 1 graph edge A-C"/>
          <p:cNvSpPr/>
          <p:nvPr/>
        </p:nvSpPr>
        <p:spPr>
          <a:xfrm>
            <a:off x="1024128" y="1975104"/>
            <a:ext cx="585216" cy="512064"/>
          </a:xfrm>
          <a:prstGeom prst="line">
            <a:avLst/>
          </a:prstGeom>
          <a:noFill/>
          <a:ln w="15875">
            <a:solidFill>
              <a:schemeClr val="accent5"/>
            </a:solidFill>
            <a:prstDash val="dash"/>
          </a:ln>
        </p:spPr>
      </p:sp>
      <p:sp>
        <p:nvSpPr>
          <p:cNvPr id="9" name="Step 1 graph edge B-D"/>
          <p:cNvSpPr/>
          <p:nvPr/>
        </p:nvSpPr>
        <p:spPr>
          <a:xfrm>
            <a:off x="1975104" y="1463040"/>
            <a:ext cx="658368" cy="1024128"/>
          </a:xfrm>
          <a:prstGeom prst="line">
            <a:avLst/>
          </a:prstGeom>
          <a:noFill/>
          <a:ln w="15875">
            <a:solidFill>
              <a:schemeClr val="accent5"/>
            </a:solidFill>
            <a:prstDash val="dash"/>
          </a:ln>
        </p:spPr>
      </p:sp>
      <p:sp>
        <p:nvSpPr>
          <p:cNvPr id="10" name="Step 1 graph edge C-D"/>
          <p:cNvSpPr/>
          <p:nvPr/>
        </p:nvSpPr>
        <p:spPr>
          <a:xfrm>
            <a:off x="1609344" y="2487168"/>
            <a:ext cx="1024128" cy="0"/>
          </a:xfrm>
          <a:prstGeom prst="line">
            <a:avLst/>
          </a:prstGeom>
          <a:noFill/>
          <a:ln w="15875">
            <a:solidFill>
              <a:schemeClr val="accent5"/>
            </a:solidFill>
            <a:prstDash val="dash"/>
          </a:ln>
        </p:spPr>
      </p:sp>
      <p:sp>
        <p:nvSpPr>
          <p:cNvPr id="11" name="Step 1 graph edge C-E"/>
          <p:cNvSpPr/>
          <p:nvPr/>
        </p:nvSpPr>
        <p:spPr>
          <a:xfrm flipV="1">
            <a:off x="1609344" y="2048256"/>
            <a:ext cx="475488" cy="438912"/>
          </a:xfrm>
          <a:prstGeom prst="line">
            <a:avLst/>
          </a:prstGeom>
          <a:noFill/>
          <a:ln w="15875">
            <a:solidFill>
              <a:schemeClr val="accent5"/>
            </a:solidFill>
            <a:prstDash val="dash"/>
          </a:ln>
        </p:spPr>
      </p:sp>
      <p:sp>
        <p:nvSpPr>
          <p:cNvPr id="12" name="Step 1 graph edge D-E"/>
          <p:cNvSpPr/>
          <p:nvPr/>
        </p:nvSpPr>
        <p:spPr>
          <a:xfrm flipH="1" flipV="1">
            <a:off x="2084832" y="2048256"/>
            <a:ext cx="548640" cy="438912"/>
          </a:xfrm>
          <a:prstGeom prst="line">
            <a:avLst/>
          </a:prstGeom>
          <a:noFill/>
          <a:ln w="15875">
            <a:solidFill>
              <a:schemeClr val="accent5"/>
            </a:solidFill>
            <a:prstDash val="dash"/>
          </a:ln>
        </p:spPr>
      </p:sp>
      <p:sp>
        <p:nvSpPr>
          <p:cNvPr id="13" name="Step 1 graph edge B-E"/>
          <p:cNvSpPr/>
          <p:nvPr/>
        </p:nvSpPr>
        <p:spPr>
          <a:xfrm>
            <a:off x="1975104" y="1463040"/>
            <a:ext cx="109728" cy="585216"/>
          </a:xfrm>
          <a:prstGeom prst="line">
            <a:avLst/>
          </a:prstGeom>
          <a:noFill/>
          <a:ln w="15875">
            <a:solidFill>
              <a:schemeClr val="accent5"/>
            </a:solidFill>
            <a:prstDash val="dash"/>
          </a:ln>
        </p:spPr>
      </p:sp>
      <p:sp>
        <p:nvSpPr>
          <p:cNvPr id="14" name="Step 1 graph weight A-B"/>
          <p:cNvSpPr txBox="1"/>
          <p:nvPr/>
        </p:nvSpPr>
        <p:spPr>
          <a:xfrm>
            <a:off x="1389888" y="162763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15" name="Step 1 graph weight B-C"/>
          <p:cNvSpPr txBox="1"/>
          <p:nvPr/>
        </p:nvSpPr>
        <p:spPr>
          <a:xfrm>
            <a:off x="1682496" y="188366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2</a:t>
            </a:r>
            <a:endParaRPr lang="en-US" sz="1000" dirty="0"/>
          </a:p>
        </p:txBody>
      </p:sp>
      <p:sp>
        <p:nvSpPr>
          <p:cNvPr id="16" name="Step 1 graph weight A-C"/>
          <p:cNvSpPr txBox="1"/>
          <p:nvPr/>
        </p:nvSpPr>
        <p:spPr>
          <a:xfrm>
            <a:off x="1207008" y="2139696"/>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3</a:t>
            </a:r>
            <a:endParaRPr lang="en-US" sz="1000" dirty="0"/>
          </a:p>
        </p:txBody>
      </p:sp>
      <p:sp>
        <p:nvSpPr>
          <p:cNvPr id="17" name="Step 1 graph weight B-D"/>
          <p:cNvSpPr txBox="1"/>
          <p:nvPr/>
        </p:nvSpPr>
        <p:spPr>
          <a:xfrm>
            <a:off x="2194560" y="188366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4</a:t>
            </a:r>
            <a:endParaRPr lang="en-US" sz="1000" dirty="0"/>
          </a:p>
        </p:txBody>
      </p:sp>
      <p:sp>
        <p:nvSpPr>
          <p:cNvPr id="18" name="Step 1 graph weight C-D"/>
          <p:cNvSpPr txBox="1"/>
          <p:nvPr/>
        </p:nvSpPr>
        <p:spPr>
          <a:xfrm>
            <a:off x="2011680" y="239572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5</a:t>
            </a:r>
            <a:endParaRPr lang="en-US" sz="1000" dirty="0"/>
          </a:p>
        </p:txBody>
      </p:sp>
      <p:sp>
        <p:nvSpPr>
          <p:cNvPr id="19" name="Step 1 graph weight C-E"/>
          <p:cNvSpPr txBox="1"/>
          <p:nvPr/>
        </p:nvSpPr>
        <p:spPr>
          <a:xfrm>
            <a:off x="1737360" y="217627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6</a:t>
            </a:r>
            <a:endParaRPr lang="en-US" sz="1000" dirty="0"/>
          </a:p>
        </p:txBody>
      </p:sp>
      <p:sp>
        <p:nvSpPr>
          <p:cNvPr id="20" name="Step 1 graph weight D-E"/>
          <p:cNvSpPr txBox="1"/>
          <p:nvPr/>
        </p:nvSpPr>
        <p:spPr>
          <a:xfrm>
            <a:off x="2249424" y="217627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7</a:t>
            </a:r>
            <a:endParaRPr lang="en-US" sz="1000" dirty="0"/>
          </a:p>
        </p:txBody>
      </p:sp>
      <p:sp>
        <p:nvSpPr>
          <p:cNvPr id="21" name="Step 1 graph weight B-E"/>
          <p:cNvSpPr txBox="1"/>
          <p:nvPr/>
        </p:nvSpPr>
        <p:spPr>
          <a:xfrm>
            <a:off x="1920240" y="166420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8</a:t>
            </a:r>
            <a:endParaRPr lang="en-US" sz="1000" dirty="0"/>
          </a:p>
        </p:txBody>
      </p:sp>
      <p:sp>
        <p:nvSpPr>
          <p:cNvPr id="22" name="Step 1 graph vertex A"/>
          <p:cNvSpPr txBox="1"/>
          <p:nvPr/>
        </p:nvSpPr>
        <p:spPr>
          <a:xfrm>
            <a:off x="886968" y="1837944"/>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23" name="Step 1 graph vertex B"/>
          <p:cNvSpPr txBox="1"/>
          <p:nvPr/>
        </p:nvSpPr>
        <p:spPr>
          <a:xfrm>
            <a:off x="1837944" y="1325880"/>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24" name="Step 1 graph vertex C"/>
          <p:cNvSpPr txBox="1"/>
          <p:nvPr/>
        </p:nvSpPr>
        <p:spPr>
          <a:xfrm>
            <a:off x="1472184" y="235000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25" name="Step 1 graph vertex D"/>
          <p:cNvSpPr txBox="1"/>
          <p:nvPr/>
        </p:nvSpPr>
        <p:spPr>
          <a:xfrm>
            <a:off x="2496312" y="235000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D</a:t>
            </a:r>
            <a:endParaRPr lang="en-US" sz="1100" dirty="0"/>
          </a:p>
        </p:txBody>
      </p:sp>
      <p:sp>
        <p:nvSpPr>
          <p:cNvPr id="26" name="Step 1 graph vertex E"/>
          <p:cNvSpPr txBox="1"/>
          <p:nvPr/>
        </p:nvSpPr>
        <p:spPr>
          <a:xfrm>
            <a:off x="1947672" y="1911096"/>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E</a:t>
            </a:r>
            <a:endParaRPr lang="en-US" sz="1100" dirty="0"/>
          </a:p>
        </p:txBody>
      </p:sp>
      <p:sp>
        <p:nvSpPr>
          <p:cNvPr id="27" name="Shape 24"/>
          <p:cNvSpPr/>
          <p:nvPr/>
        </p:nvSpPr>
        <p:spPr>
          <a:xfrm>
            <a:off x="3063240" y="1975104"/>
            <a:ext cx="274320" cy="0"/>
          </a:xfrm>
          <a:prstGeom prst="line">
            <a:avLst/>
          </a:prstGeom>
          <a:noFill/>
          <a:ln w="22225">
            <a:solidFill>
              <a:schemeClr val="accent4"/>
            </a:solidFill>
            <a:prstDash val="solid"/>
            <a:tailEnd type="triangle"/>
          </a:ln>
        </p:spPr>
      </p:sp>
      <p:sp>
        <p:nvSpPr>
          <p:cNvPr id="28" name="Step number 2"/>
          <p:cNvSpPr txBox="1"/>
          <p:nvPr/>
        </p:nvSpPr>
        <p:spPr>
          <a:xfrm>
            <a:off x="3200400" y="1051560"/>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Step label 2"/>
          <p:cNvSpPr txBox="1"/>
          <p:nvPr/>
        </p:nvSpPr>
        <p:spPr>
          <a:xfrm>
            <a:off x="3584448" y="1005840"/>
            <a:ext cx="2240280" cy="411480"/>
          </a:xfrm>
          <a:prstGeom prst="rect">
            <a:avLst/>
          </a:prstGeom>
          <a:noFill/>
          <a:ln/>
        </p:spPr>
        <p:txBody>
          <a:bodyPr wrap="square" lIns="0" tIns="0" rIns="0" bIns="0" rtlCol="0" anchor="ctr"/>
          <a:lstStyle/>
          <a:p>
            <a:pPr indent="0" marL="0">
              <a:buNone/>
            </a:pPr>
            <a:r>
              <a:rPr lang="en-US" sz="1200" b="1" dirty="0">
                <a:solidFill>
                  <a:schemeClr val="tx2"/>
                </a:solidFill>
              </a:rPr>
              <a:t>B–C (2): </a:t>
            </a:r>
            <a:pPr indent="0" marL="0">
              <a:buNone/>
            </a:pPr>
            <a:r>
              <a:rPr lang="en-US" sz="1200" b="1" dirty="0">
                <a:solidFill>
                  <a:schemeClr val="accent2"/>
                </a:solidFill>
              </a:rPr>
              <a:t>SELECT</a:t>
            </a:r>
            <a:endParaRPr lang="en-US" sz="1200" dirty="0"/>
          </a:p>
        </p:txBody>
      </p:sp>
      <p:sp>
        <p:nvSpPr>
          <p:cNvPr id="30" name="Step 2 graph edge A-B"/>
          <p:cNvSpPr/>
          <p:nvPr/>
        </p:nvSpPr>
        <p:spPr>
          <a:xfrm flipV="1">
            <a:off x="3767328" y="1463040"/>
            <a:ext cx="950976" cy="512064"/>
          </a:xfrm>
          <a:prstGeom prst="line">
            <a:avLst/>
          </a:prstGeom>
          <a:noFill/>
          <a:ln w="38100">
            <a:solidFill>
              <a:schemeClr val="accent2"/>
            </a:solidFill>
            <a:prstDash val="solid"/>
          </a:ln>
        </p:spPr>
      </p:sp>
      <p:sp>
        <p:nvSpPr>
          <p:cNvPr id="31" name="Step 2 graph edge B-C"/>
          <p:cNvSpPr/>
          <p:nvPr/>
        </p:nvSpPr>
        <p:spPr>
          <a:xfrm flipH="1">
            <a:off x="4352544" y="1463040"/>
            <a:ext cx="365760" cy="1024128"/>
          </a:xfrm>
          <a:prstGeom prst="line">
            <a:avLst/>
          </a:prstGeom>
          <a:noFill/>
          <a:ln w="38100">
            <a:solidFill>
              <a:schemeClr val="accent2"/>
            </a:solidFill>
            <a:prstDash val="solid"/>
          </a:ln>
        </p:spPr>
      </p:sp>
      <p:sp>
        <p:nvSpPr>
          <p:cNvPr id="32" name="Step 2 graph edge A-C"/>
          <p:cNvSpPr/>
          <p:nvPr/>
        </p:nvSpPr>
        <p:spPr>
          <a:xfrm>
            <a:off x="3767328" y="1975104"/>
            <a:ext cx="585216" cy="512064"/>
          </a:xfrm>
          <a:prstGeom prst="line">
            <a:avLst/>
          </a:prstGeom>
          <a:noFill/>
          <a:ln w="15875">
            <a:solidFill>
              <a:schemeClr val="accent5"/>
            </a:solidFill>
            <a:prstDash val="dash"/>
          </a:ln>
        </p:spPr>
      </p:sp>
      <p:sp>
        <p:nvSpPr>
          <p:cNvPr id="33" name="Step 2 graph edge B-D"/>
          <p:cNvSpPr/>
          <p:nvPr/>
        </p:nvSpPr>
        <p:spPr>
          <a:xfrm>
            <a:off x="4718304" y="1463040"/>
            <a:ext cx="658368" cy="1024128"/>
          </a:xfrm>
          <a:prstGeom prst="line">
            <a:avLst/>
          </a:prstGeom>
          <a:noFill/>
          <a:ln w="15875">
            <a:solidFill>
              <a:schemeClr val="accent5"/>
            </a:solidFill>
            <a:prstDash val="dash"/>
          </a:ln>
        </p:spPr>
      </p:sp>
      <p:sp>
        <p:nvSpPr>
          <p:cNvPr id="34" name="Step 2 graph edge C-D"/>
          <p:cNvSpPr/>
          <p:nvPr/>
        </p:nvSpPr>
        <p:spPr>
          <a:xfrm>
            <a:off x="4352544" y="2487168"/>
            <a:ext cx="1024128" cy="0"/>
          </a:xfrm>
          <a:prstGeom prst="line">
            <a:avLst/>
          </a:prstGeom>
          <a:noFill/>
          <a:ln w="15875">
            <a:solidFill>
              <a:schemeClr val="accent5"/>
            </a:solidFill>
            <a:prstDash val="dash"/>
          </a:ln>
        </p:spPr>
      </p:sp>
      <p:sp>
        <p:nvSpPr>
          <p:cNvPr id="35" name="Step 2 graph edge C-E"/>
          <p:cNvSpPr/>
          <p:nvPr/>
        </p:nvSpPr>
        <p:spPr>
          <a:xfrm flipV="1">
            <a:off x="4352544" y="2048256"/>
            <a:ext cx="475488" cy="438912"/>
          </a:xfrm>
          <a:prstGeom prst="line">
            <a:avLst/>
          </a:prstGeom>
          <a:noFill/>
          <a:ln w="15875">
            <a:solidFill>
              <a:schemeClr val="accent5"/>
            </a:solidFill>
            <a:prstDash val="dash"/>
          </a:ln>
        </p:spPr>
      </p:sp>
      <p:sp>
        <p:nvSpPr>
          <p:cNvPr id="36" name="Step 2 graph edge D-E"/>
          <p:cNvSpPr/>
          <p:nvPr/>
        </p:nvSpPr>
        <p:spPr>
          <a:xfrm flipH="1" flipV="1">
            <a:off x="4828032" y="2048256"/>
            <a:ext cx="548640" cy="438912"/>
          </a:xfrm>
          <a:prstGeom prst="line">
            <a:avLst/>
          </a:prstGeom>
          <a:noFill/>
          <a:ln w="15875">
            <a:solidFill>
              <a:schemeClr val="accent5"/>
            </a:solidFill>
            <a:prstDash val="dash"/>
          </a:ln>
        </p:spPr>
      </p:sp>
      <p:sp>
        <p:nvSpPr>
          <p:cNvPr id="37" name="Step 2 graph edge B-E"/>
          <p:cNvSpPr/>
          <p:nvPr/>
        </p:nvSpPr>
        <p:spPr>
          <a:xfrm>
            <a:off x="4718304" y="1463040"/>
            <a:ext cx="109728" cy="585216"/>
          </a:xfrm>
          <a:prstGeom prst="line">
            <a:avLst/>
          </a:prstGeom>
          <a:noFill/>
          <a:ln w="15875">
            <a:solidFill>
              <a:schemeClr val="accent5"/>
            </a:solidFill>
            <a:prstDash val="dash"/>
          </a:ln>
        </p:spPr>
      </p:sp>
      <p:sp>
        <p:nvSpPr>
          <p:cNvPr id="38" name="Step 2 graph weight A-B"/>
          <p:cNvSpPr txBox="1"/>
          <p:nvPr/>
        </p:nvSpPr>
        <p:spPr>
          <a:xfrm>
            <a:off x="4133088" y="162763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39" name="Step 2 graph weight B-C"/>
          <p:cNvSpPr txBox="1"/>
          <p:nvPr/>
        </p:nvSpPr>
        <p:spPr>
          <a:xfrm>
            <a:off x="4425696" y="188366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2</a:t>
            </a:r>
            <a:endParaRPr lang="en-US" sz="1000" dirty="0"/>
          </a:p>
        </p:txBody>
      </p:sp>
      <p:sp>
        <p:nvSpPr>
          <p:cNvPr id="40" name="Step 2 graph weight A-C"/>
          <p:cNvSpPr txBox="1"/>
          <p:nvPr/>
        </p:nvSpPr>
        <p:spPr>
          <a:xfrm>
            <a:off x="3950208" y="2139696"/>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3</a:t>
            </a:r>
            <a:endParaRPr lang="en-US" sz="1000" dirty="0"/>
          </a:p>
        </p:txBody>
      </p:sp>
      <p:sp>
        <p:nvSpPr>
          <p:cNvPr id="41" name="Step 2 graph weight B-D"/>
          <p:cNvSpPr txBox="1"/>
          <p:nvPr/>
        </p:nvSpPr>
        <p:spPr>
          <a:xfrm>
            <a:off x="4937760" y="188366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4</a:t>
            </a:r>
            <a:endParaRPr lang="en-US" sz="1000" dirty="0"/>
          </a:p>
        </p:txBody>
      </p:sp>
      <p:sp>
        <p:nvSpPr>
          <p:cNvPr id="42" name="Step 2 graph weight C-D"/>
          <p:cNvSpPr txBox="1"/>
          <p:nvPr/>
        </p:nvSpPr>
        <p:spPr>
          <a:xfrm>
            <a:off x="4754880" y="239572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5</a:t>
            </a:r>
            <a:endParaRPr lang="en-US" sz="1000" dirty="0"/>
          </a:p>
        </p:txBody>
      </p:sp>
      <p:sp>
        <p:nvSpPr>
          <p:cNvPr id="43" name="Step 2 graph weight C-E"/>
          <p:cNvSpPr txBox="1"/>
          <p:nvPr/>
        </p:nvSpPr>
        <p:spPr>
          <a:xfrm>
            <a:off x="4480560" y="217627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6</a:t>
            </a:r>
            <a:endParaRPr lang="en-US" sz="1000" dirty="0"/>
          </a:p>
        </p:txBody>
      </p:sp>
      <p:sp>
        <p:nvSpPr>
          <p:cNvPr id="44" name="Step 2 graph weight D-E"/>
          <p:cNvSpPr txBox="1"/>
          <p:nvPr/>
        </p:nvSpPr>
        <p:spPr>
          <a:xfrm>
            <a:off x="4992624" y="217627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7</a:t>
            </a:r>
            <a:endParaRPr lang="en-US" sz="1000" dirty="0"/>
          </a:p>
        </p:txBody>
      </p:sp>
      <p:sp>
        <p:nvSpPr>
          <p:cNvPr id="45" name="Step 2 graph weight B-E"/>
          <p:cNvSpPr txBox="1"/>
          <p:nvPr/>
        </p:nvSpPr>
        <p:spPr>
          <a:xfrm>
            <a:off x="4663440" y="166420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8</a:t>
            </a:r>
            <a:endParaRPr lang="en-US" sz="1000" dirty="0"/>
          </a:p>
        </p:txBody>
      </p:sp>
      <p:sp>
        <p:nvSpPr>
          <p:cNvPr id="46" name="Step 2 graph vertex A"/>
          <p:cNvSpPr txBox="1"/>
          <p:nvPr/>
        </p:nvSpPr>
        <p:spPr>
          <a:xfrm>
            <a:off x="3630168" y="1837944"/>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47" name="Step 2 graph vertex B"/>
          <p:cNvSpPr txBox="1"/>
          <p:nvPr/>
        </p:nvSpPr>
        <p:spPr>
          <a:xfrm>
            <a:off x="4581144" y="1325880"/>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48" name="Step 2 graph vertex C"/>
          <p:cNvSpPr txBox="1"/>
          <p:nvPr/>
        </p:nvSpPr>
        <p:spPr>
          <a:xfrm>
            <a:off x="4215384" y="235000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49" name="Step 2 graph vertex D"/>
          <p:cNvSpPr txBox="1"/>
          <p:nvPr/>
        </p:nvSpPr>
        <p:spPr>
          <a:xfrm>
            <a:off x="5239512" y="235000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D</a:t>
            </a:r>
            <a:endParaRPr lang="en-US" sz="1100" dirty="0"/>
          </a:p>
        </p:txBody>
      </p:sp>
      <p:sp>
        <p:nvSpPr>
          <p:cNvPr id="50" name="Step 2 graph vertex E"/>
          <p:cNvSpPr txBox="1"/>
          <p:nvPr/>
        </p:nvSpPr>
        <p:spPr>
          <a:xfrm>
            <a:off x="4690872" y="1911096"/>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E</a:t>
            </a:r>
            <a:endParaRPr lang="en-US" sz="1100" dirty="0"/>
          </a:p>
        </p:txBody>
      </p:sp>
      <p:sp>
        <p:nvSpPr>
          <p:cNvPr id="51" name="Shape 48"/>
          <p:cNvSpPr/>
          <p:nvPr/>
        </p:nvSpPr>
        <p:spPr>
          <a:xfrm>
            <a:off x="5806440" y="1975104"/>
            <a:ext cx="274320" cy="0"/>
          </a:xfrm>
          <a:prstGeom prst="line">
            <a:avLst/>
          </a:prstGeom>
          <a:noFill/>
          <a:ln w="22225">
            <a:solidFill>
              <a:schemeClr val="accent4"/>
            </a:solidFill>
            <a:prstDash val="solid"/>
            <a:tailEnd type="triangle"/>
          </a:ln>
        </p:spPr>
      </p:sp>
      <p:sp>
        <p:nvSpPr>
          <p:cNvPr id="52" name="Step number 3"/>
          <p:cNvSpPr txBox="1"/>
          <p:nvPr/>
        </p:nvSpPr>
        <p:spPr>
          <a:xfrm>
            <a:off x="5943600" y="1051560"/>
            <a:ext cx="310896" cy="310896"/>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53" name="Step label 3"/>
          <p:cNvSpPr txBox="1"/>
          <p:nvPr/>
        </p:nvSpPr>
        <p:spPr>
          <a:xfrm>
            <a:off x="6327648" y="1005840"/>
            <a:ext cx="2240280" cy="411480"/>
          </a:xfrm>
          <a:prstGeom prst="rect">
            <a:avLst/>
          </a:prstGeom>
          <a:noFill/>
          <a:ln/>
        </p:spPr>
        <p:txBody>
          <a:bodyPr wrap="square" lIns="0" tIns="0" rIns="0" bIns="0" rtlCol="0" anchor="ctr"/>
          <a:lstStyle/>
          <a:p>
            <a:pPr indent="0" marL="0">
              <a:buNone/>
            </a:pPr>
            <a:r>
              <a:rPr lang="en-US" sz="1200" b="1" dirty="0">
                <a:solidFill>
                  <a:schemeClr val="tx2"/>
                </a:solidFill>
              </a:rPr>
              <a:t>A–C (3): </a:t>
            </a:r>
            <a:pPr indent="0" marL="0">
              <a:buNone/>
            </a:pPr>
            <a:r>
              <a:rPr lang="en-US" sz="1200" b="1" dirty="0">
                <a:solidFill>
                  <a:schemeClr val="accent3"/>
                </a:solidFill>
              </a:rPr>
              <a:t>REJECT</a:t>
            </a:r>
            <a:pPr indent="0" marL="0">
              <a:buNone/>
            </a:pPr>
            <a:r>
              <a:rPr lang="en-US" sz="1200" dirty="0">
                <a:solidFill>
                  <a:schemeClr val="tx1"/>
                </a:solidFill>
              </a:rPr>
              <a:t> – creates a cycle</a:t>
            </a:r>
            <a:endParaRPr lang="en-US" sz="1200" dirty="0"/>
          </a:p>
        </p:txBody>
      </p:sp>
      <p:sp>
        <p:nvSpPr>
          <p:cNvPr id="54" name="Step 3 graph edge A-B"/>
          <p:cNvSpPr/>
          <p:nvPr/>
        </p:nvSpPr>
        <p:spPr>
          <a:xfrm flipV="1">
            <a:off x="6510528" y="1463040"/>
            <a:ext cx="950976" cy="512064"/>
          </a:xfrm>
          <a:prstGeom prst="line">
            <a:avLst/>
          </a:prstGeom>
          <a:noFill/>
          <a:ln w="38100">
            <a:solidFill>
              <a:schemeClr val="accent2"/>
            </a:solidFill>
            <a:prstDash val="solid"/>
          </a:ln>
        </p:spPr>
      </p:sp>
      <p:sp>
        <p:nvSpPr>
          <p:cNvPr id="55" name="Step 3 graph edge B-C"/>
          <p:cNvSpPr/>
          <p:nvPr/>
        </p:nvSpPr>
        <p:spPr>
          <a:xfrm flipH="1">
            <a:off x="7095744" y="1463040"/>
            <a:ext cx="365760" cy="1024128"/>
          </a:xfrm>
          <a:prstGeom prst="line">
            <a:avLst/>
          </a:prstGeom>
          <a:noFill/>
          <a:ln w="38100">
            <a:solidFill>
              <a:schemeClr val="accent2"/>
            </a:solidFill>
            <a:prstDash val="solid"/>
          </a:ln>
        </p:spPr>
      </p:sp>
      <p:sp>
        <p:nvSpPr>
          <p:cNvPr id="56" name="Step 3 graph edge A-C"/>
          <p:cNvSpPr/>
          <p:nvPr/>
        </p:nvSpPr>
        <p:spPr>
          <a:xfrm>
            <a:off x="6510528" y="1975104"/>
            <a:ext cx="585216" cy="512064"/>
          </a:xfrm>
          <a:prstGeom prst="line">
            <a:avLst/>
          </a:prstGeom>
          <a:noFill/>
          <a:ln w="22225">
            <a:solidFill>
              <a:schemeClr val="accent3"/>
            </a:solidFill>
            <a:prstDash val="dash"/>
          </a:ln>
        </p:spPr>
      </p:sp>
      <p:sp>
        <p:nvSpPr>
          <p:cNvPr id="57" name="Step 3 graph edge B-D"/>
          <p:cNvSpPr/>
          <p:nvPr/>
        </p:nvSpPr>
        <p:spPr>
          <a:xfrm>
            <a:off x="7461504" y="1463040"/>
            <a:ext cx="658368" cy="1024128"/>
          </a:xfrm>
          <a:prstGeom prst="line">
            <a:avLst/>
          </a:prstGeom>
          <a:noFill/>
          <a:ln w="15875">
            <a:solidFill>
              <a:schemeClr val="accent5"/>
            </a:solidFill>
            <a:prstDash val="dash"/>
          </a:ln>
        </p:spPr>
      </p:sp>
      <p:sp>
        <p:nvSpPr>
          <p:cNvPr id="58" name="Step 3 graph edge C-D"/>
          <p:cNvSpPr/>
          <p:nvPr/>
        </p:nvSpPr>
        <p:spPr>
          <a:xfrm>
            <a:off x="7095744" y="2487168"/>
            <a:ext cx="1024128" cy="0"/>
          </a:xfrm>
          <a:prstGeom prst="line">
            <a:avLst/>
          </a:prstGeom>
          <a:noFill/>
          <a:ln w="15875">
            <a:solidFill>
              <a:schemeClr val="accent5"/>
            </a:solidFill>
            <a:prstDash val="dash"/>
          </a:ln>
        </p:spPr>
      </p:sp>
      <p:sp>
        <p:nvSpPr>
          <p:cNvPr id="59" name="Step 3 graph edge C-E"/>
          <p:cNvSpPr/>
          <p:nvPr/>
        </p:nvSpPr>
        <p:spPr>
          <a:xfrm flipV="1">
            <a:off x="7095744" y="2048256"/>
            <a:ext cx="475488" cy="438912"/>
          </a:xfrm>
          <a:prstGeom prst="line">
            <a:avLst/>
          </a:prstGeom>
          <a:noFill/>
          <a:ln w="15875">
            <a:solidFill>
              <a:schemeClr val="accent5"/>
            </a:solidFill>
            <a:prstDash val="dash"/>
          </a:ln>
        </p:spPr>
      </p:sp>
      <p:sp>
        <p:nvSpPr>
          <p:cNvPr id="60" name="Step 3 graph edge D-E"/>
          <p:cNvSpPr/>
          <p:nvPr/>
        </p:nvSpPr>
        <p:spPr>
          <a:xfrm flipH="1" flipV="1">
            <a:off x="7571232" y="2048256"/>
            <a:ext cx="548640" cy="438912"/>
          </a:xfrm>
          <a:prstGeom prst="line">
            <a:avLst/>
          </a:prstGeom>
          <a:noFill/>
          <a:ln w="15875">
            <a:solidFill>
              <a:schemeClr val="accent5"/>
            </a:solidFill>
            <a:prstDash val="dash"/>
          </a:ln>
        </p:spPr>
      </p:sp>
      <p:sp>
        <p:nvSpPr>
          <p:cNvPr id="61" name="Step 3 graph edge B-E"/>
          <p:cNvSpPr/>
          <p:nvPr/>
        </p:nvSpPr>
        <p:spPr>
          <a:xfrm>
            <a:off x="7461504" y="1463040"/>
            <a:ext cx="109728" cy="585216"/>
          </a:xfrm>
          <a:prstGeom prst="line">
            <a:avLst/>
          </a:prstGeom>
          <a:noFill/>
          <a:ln w="15875">
            <a:solidFill>
              <a:schemeClr val="accent5"/>
            </a:solidFill>
            <a:prstDash val="dash"/>
          </a:ln>
        </p:spPr>
      </p:sp>
      <p:sp>
        <p:nvSpPr>
          <p:cNvPr id="62" name="Step 3 graph weight A-B"/>
          <p:cNvSpPr txBox="1"/>
          <p:nvPr/>
        </p:nvSpPr>
        <p:spPr>
          <a:xfrm>
            <a:off x="6876288" y="162763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63" name="Step 3 graph weight B-C"/>
          <p:cNvSpPr txBox="1"/>
          <p:nvPr/>
        </p:nvSpPr>
        <p:spPr>
          <a:xfrm>
            <a:off x="7168896" y="188366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2</a:t>
            </a:r>
            <a:endParaRPr lang="en-US" sz="1000" dirty="0"/>
          </a:p>
        </p:txBody>
      </p:sp>
      <p:sp>
        <p:nvSpPr>
          <p:cNvPr id="64" name="Step 3 graph weight A-C"/>
          <p:cNvSpPr txBox="1"/>
          <p:nvPr/>
        </p:nvSpPr>
        <p:spPr>
          <a:xfrm>
            <a:off x="6693408" y="2139696"/>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3"/>
                </a:solidFill>
              </a:rPr>
              <a:t>3</a:t>
            </a:r>
            <a:endParaRPr lang="en-US" sz="1000" dirty="0"/>
          </a:p>
        </p:txBody>
      </p:sp>
      <p:sp>
        <p:nvSpPr>
          <p:cNvPr id="65" name="Step 3 graph weight B-D"/>
          <p:cNvSpPr txBox="1"/>
          <p:nvPr/>
        </p:nvSpPr>
        <p:spPr>
          <a:xfrm>
            <a:off x="7680960" y="188366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4</a:t>
            </a:r>
            <a:endParaRPr lang="en-US" sz="1000" dirty="0"/>
          </a:p>
        </p:txBody>
      </p:sp>
      <p:sp>
        <p:nvSpPr>
          <p:cNvPr id="66" name="Step 3 graph weight C-D"/>
          <p:cNvSpPr txBox="1"/>
          <p:nvPr/>
        </p:nvSpPr>
        <p:spPr>
          <a:xfrm>
            <a:off x="7498080" y="239572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5</a:t>
            </a:r>
            <a:endParaRPr lang="en-US" sz="1000" dirty="0"/>
          </a:p>
        </p:txBody>
      </p:sp>
      <p:sp>
        <p:nvSpPr>
          <p:cNvPr id="67" name="Step 3 graph weight C-E"/>
          <p:cNvSpPr txBox="1"/>
          <p:nvPr/>
        </p:nvSpPr>
        <p:spPr>
          <a:xfrm>
            <a:off x="7223760" y="217627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6</a:t>
            </a:r>
            <a:endParaRPr lang="en-US" sz="1000" dirty="0"/>
          </a:p>
        </p:txBody>
      </p:sp>
      <p:sp>
        <p:nvSpPr>
          <p:cNvPr id="68" name="Step 3 graph weight D-E"/>
          <p:cNvSpPr txBox="1"/>
          <p:nvPr/>
        </p:nvSpPr>
        <p:spPr>
          <a:xfrm>
            <a:off x="7735824" y="217627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7</a:t>
            </a:r>
            <a:endParaRPr lang="en-US" sz="1000" dirty="0"/>
          </a:p>
        </p:txBody>
      </p:sp>
      <p:sp>
        <p:nvSpPr>
          <p:cNvPr id="69" name="Step 3 graph weight B-E"/>
          <p:cNvSpPr txBox="1"/>
          <p:nvPr/>
        </p:nvSpPr>
        <p:spPr>
          <a:xfrm>
            <a:off x="7406640" y="166420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8</a:t>
            </a:r>
            <a:endParaRPr lang="en-US" sz="1000" dirty="0"/>
          </a:p>
        </p:txBody>
      </p:sp>
      <p:sp>
        <p:nvSpPr>
          <p:cNvPr id="70" name="Step 3 graph vertex A"/>
          <p:cNvSpPr txBox="1"/>
          <p:nvPr/>
        </p:nvSpPr>
        <p:spPr>
          <a:xfrm>
            <a:off x="6373368" y="1837944"/>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71" name="Step 3 graph vertex B"/>
          <p:cNvSpPr txBox="1"/>
          <p:nvPr/>
        </p:nvSpPr>
        <p:spPr>
          <a:xfrm>
            <a:off x="7324344" y="1325880"/>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72" name="Step 3 graph vertex C"/>
          <p:cNvSpPr txBox="1"/>
          <p:nvPr/>
        </p:nvSpPr>
        <p:spPr>
          <a:xfrm>
            <a:off x="6958584" y="235000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73" name="Step 3 graph vertex D"/>
          <p:cNvSpPr txBox="1"/>
          <p:nvPr/>
        </p:nvSpPr>
        <p:spPr>
          <a:xfrm>
            <a:off x="7982712" y="235000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D</a:t>
            </a:r>
            <a:endParaRPr lang="en-US" sz="1100" dirty="0"/>
          </a:p>
        </p:txBody>
      </p:sp>
      <p:sp>
        <p:nvSpPr>
          <p:cNvPr id="74" name="Step 3 graph vertex E"/>
          <p:cNvSpPr txBox="1"/>
          <p:nvPr/>
        </p:nvSpPr>
        <p:spPr>
          <a:xfrm>
            <a:off x="7434072" y="1911096"/>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E</a:t>
            </a:r>
            <a:endParaRPr lang="en-US" sz="1100" dirty="0"/>
          </a:p>
        </p:txBody>
      </p:sp>
      <p:sp>
        <p:nvSpPr>
          <p:cNvPr id="75" name="Step number 4"/>
          <p:cNvSpPr txBox="1"/>
          <p:nvPr/>
        </p:nvSpPr>
        <p:spPr>
          <a:xfrm>
            <a:off x="457200" y="2697480"/>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76" name="Step label 4"/>
          <p:cNvSpPr txBox="1"/>
          <p:nvPr/>
        </p:nvSpPr>
        <p:spPr>
          <a:xfrm>
            <a:off x="841248" y="2651760"/>
            <a:ext cx="2240280" cy="411480"/>
          </a:xfrm>
          <a:prstGeom prst="rect">
            <a:avLst/>
          </a:prstGeom>
          <a:noFill/>
          <a:ln/>
        </p:spPr>
        <p:txBody>
          <a:bodyPr wrap="square" lIns="0" tIns="0" rIns="0" bIns="0" rtlCol="0" anchor="ctr"/>
          <a:lstStyle/>
          <a:p>
            <a:pPr indent="0" marL="0">
              <a:buNone/>
            </a:pPr>
            <a:r>
              <a:rPr lang="en-US" sz="1200" b="1" dirty="0">
                <a:solidFill>
                  <a:schemeClr val="tx2"/>
                </a:solidFill>
              </a:rPr>
              <a:t>B–D (4): </a:t>
            </a:r>
            <a:pPr indent="0" marL="0">
              <a:buNone/>
            </a:pPr>
            <a:r>
              <a:rPr lang="en-US" sz="1200" b="1" dirty="0">
                <a:solidFill>
                  <a:schemeClr val="accent2"/>
                </a:solidFill>
              </a:rPr>
              <a:t>SELECT</a:t>
            </a:r>
            <a:endParaRPr lang="en-US" sz="1200" dirty="0"/>
          </a:p>
        </p:txBody>
      </p:sp>
      <p:sp>
        <p:nvSpPr>
          <p:cNvPr id="77" name="Step 4 graph edge A-B"/>
          <p:cNvSpPr/>
          <p:nvPr/>
        </p:nvSpPr>
        <p:spPr>
          <a:xfrm flipV="1">
            <a:off x="1024128" y="3108960"/>
            <a:ext cx="950976" cy="512064"/>
          </a:xfrm>
          <a:prstGeom prst="line">
            <a:avLst/>
          </a:prstGeom>
          <a:noFill/>
          <a:ln w="38100">
            <a:solidFill>
              <a:schemeClr val="accent2"/>
            </a:solidFill>
            <a:prstDash val="solid"/>
          </a:ln>
        </p:spPr>
      </p:sp>
      <p:sp>
        <p:nvSpPr>
          <p:cNvPr id="78" name="Step 4 graph edge B-C"/>
          <p:cNvSpPr/>
          <p:nvPr/>
        </p:nvSpPr>
        <p:spPr>
          <a:xfrm flipH="1">
            <a:off x="1609344" y="3108960"/>
            <a:ext cx="365760" cy="1024128"/>
          </a:xfrm>
          <a:prstGeom prst="line">
            <a:avLst/>
          </a:prstGeom>
          <a:noFill/>
          <a:ln w="38100">
            <a:solidFill>
              <a:schemeClr val="accent2"/>
            </a:solidFill>
            <a:prstDash val="solid"/>
          </a:ln>
        </p:spPr>
      </p:sp>
      <p:sp>
        <p:nvSpPr>
          <p:cNvPr id="79" name="Step 4 graph edge A-C"/>
          <p:cNvSpPr/>
          <p:nvPr/>
        </p:nvSpPr>
        <p:spPr>
          <a:xfrm>
            <a:off x="1024128" y="3621024"/>
            <a:ext cx="585216" cy="512064"/>
          </a:xfrm>
          <a:prstGeom prst="line">
            <a:avLst/>
          </a:prstGeom>
          <a:noFill/>
          <a:ln w="22225">
            <a:solidFill>
              <a:schemeClr val="accent3"/>
            </a:solidFill>
            <a:prstDash val="dash"/>
          </a:ln>
        </p:spPr>
      </p:sp>
      <p:sp>
        <p:nvSpPr>
          <p:cNvPr id="80" name="Step 4 graph edge B-D"/>
          <p:cNvSpPr/>
          <p:nvPr/>
        </p:nvSpPr>
        <p:spPr>
          <a:xfrm>
            <a:off x="1975104" y="3108960"/>
            <a:ext cx="658368" cy="1024128"/>
          </a:xfrm>
          <a:prstGeom prst="line">
            <a:avLst/>
          </a:prstGeom>
          <a:noFill/>
          <a:ln w="38100">
            <a:solidFill>
              <a:schemeClr val="accent2"/>
            </a:solidFill>
            <a:prstDash val="solid"/>
          </a:ln>
        </p:spPr>
      </p:sp>
      <p:sp>
        <p:nvSpPr>
          <p:cNvPr id="81" name="Step 4 graph edge C-D"/>
          <p:cNvSpPr/>
          <p:nvPr/>
        </p:nvSpPr>
        <p:spPr>
          <a:xfrm>
            <a:off x="1609344" y="4133088"/>
            <a:ext cx="1024128" cy="0"/>
          </a:xfrm>
          <a:prstGeom prst="line">
            <a:avLst/>
          </a:prstGeom>
          <a:noFill/>
          <a:ln w="15875">
            <a:solidFill>
              <a:schemeClr val="accent5"/>
            </a:solidFill>
            <a:prstDash val="dash"/>
          </a:ln>
        </p:spPr>
      </p:sp>
      <p:sp>
        <p:nvSpPr>
          <p:cNvPr id="82" name="Step 4 graph edge C-E"/>
          <p:cNvSpPr/>
          <p:nvPr/>
        </p:nvSpPr>
        <p:spPr>
          <a:xfrm flipV="1">
            <a:off x="1609344" y="3694176"/>
            <a:ext cx="475488" cy="438912"/>
          </a:xfrm>
          <a:prstGeom prst="line">
            <a:avLst/>
          </a:prstGeom>
          <a:noFill/>
          <a:ln w="15875">
            <a:solidFill>
              <a:schemeClr val="accent5"/>
            </a:solidFill>
            <a:prstDash val="dash"/>
          </a:ln>
        </p:spPr>
      </p:sp>
      <p:sp>
        <p:nvSpPr>
          <p:cNvPr id="83" name="Step 4 graph edge D-E"/>
          <p:cNvSpPr/>
          <p:nvPr/>
        </p:nvSpPr>
        <p:spPr>
          <a:xfrm flipH="1" flipV="1">
            <a:off x="2084832" y="3694176"/>
            <a:ext cx="548640" cy="438912"/>
          </a:xfrm>
          <a:prstGeom prst="line">
            <a:avLst/>
          </a:prstGeom>
          <a:noFill/>
          <a:ln w="15875">
            <a:solidFill>
              <a:schemeClr val="accent5"/>
            </a:solidFill>
            <a:prstDash val="dash"/>
          </a:ln>
        </p:spPr>
      </p:sp>
      <p:sp>
        <p:nvSpPr>
          <p:cNvPr id="84" name="Step 4 graph edge B-E"/>
          <p:cNvSpPr/>
          <p:nvPr/>
        </p:nvSpPr>
        <p:spPr>
          <a:xfrm>
            <a:off x="1975104" y="3108960"/>
            <a:ext cx="109728" cy="585216"/>
          </a:xfrm>
          <a:prstGeom prst="line">
            <a:avLst/>
          </a:prstGeom>
          <a:noFill/>
          <a:ln w="15875">
            <a:solidFill>
              <a:schemeClr val="accent5"/>
            </a:solidFill>
            <a:prstDash val="dash"/>
          </a:ln>
        </p:spPr>
      </p:sp>
      <p:sp>
        <p:nvSpPr>
          <p:cNvPr id="85" name="Step 4 graph weight A-B"/>
          <p:cNvSpPr txBox="1"/>
          <p:nvPr/>
        </p:nvSpPr>
        <p:spPr>
          <a:xfrm>
            <a:off x="1389888" y="327355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86" name="Step 4 graph weight B-C"/>
          <p:cNvSpPr txBox="1"/>
          <p:nvPr/>
        </p:nvSpPr>
        <p:spPr>
          <a:xfrm>
            <a:off x="1682496" y="352958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2</a:t>
            </a:r>
            <a:endParaRPr lang="en-US" sz="1000" dirty="0"/>
          </a:p>
        </p:txBody>
      </p:sp>
      <p:sp>
        <p:nvSpPr>
          <p:cNvPr id="87" name="Step 4 graph weight A-C"/>
          <p:cNvSpPr txBox="1"/>
          <p:nvPr/>
        </p:nvSpPr>
        <p:spPr>
          <a:xfrm>
            <a:off x="1207008" y="3785616"/>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3"/>
                </a:solidFill>
              </a:rPr>
              <a:t>3</a:t>
            </a:r>
            <a:endParaRPr lang="en-US" sz="1000" dirty="0"/>
          </a:p>
        </p:txBody>
      </p:sp>
      <p:sp>
        <p:nvSpPr>
          <p:cNvPr id="88" name="Step 4 graph weight B-D"/>
          <p:cNvSpPr txBox="1"/>
          <p:nvPr/>
        </p:nvSpPr>
        <p:spPr>
          <a:xfrm>
            <a:off x="2194560" y="352958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4</a:t>
            </a:r>
            <a:endParaRPr lang="en-US" sz="1000" dirty="0"/>
          </a:p>
        </p:txBody>
      </p:sp>
      <p:sp>
        <p:nvSpPr>
          <p:cNvPr id="89" name="Step 4 graph weight C-D"/>
          <p:cNvSpPr txBox="1"/>
          <p:nvPr/>
        </p:nvSpPr>
        <p:spPr>
          <a:xfrm>
            <a:off x="2011680" y="404164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5</a:t>
            </a:r>
            <a:endParaRPr lang="en-US" sz="1000" dirty="0"/>
          </a:p>
        </p:txBody>
      </p:sp>
      <p:sp>
        <p:nvSpPr>
          <p:cNvPr id="90" name="Step 4 graph weight C-E"/>
          <p:cNvSpPr txBox="1"/>
          <p:nvPr/>
        </p:nvSpPr>
        <p:spPr>
          <a:xfrm>
            <a:off x="1737360" y="382219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6</a:t>
            </a:r>
            <a:endParaRPr lang="en-US" sz="1000" dirty="0"/>
          </a:p>
        </p:txBody>
      </p:sp>
      <p:sp>
        <p:nvSpPr>
          <p:cNvPr id="91" name="Step 4 graph weight D-E"/>
          <p:cNvSpPr txBox="1"/>
          <p:nvPr/>
        </p:nvSpPr>
        <p:spPr>
          <a:xfrm>
            <a:off x="2249424" y="382219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7</a:t>
            </a:r>
            <a:endParaRPr lang="en-US" sz="1000" dirty="0"/>
          </a:p>
        </p:txBody>
      </p:sp>
      <p:sp>
        <p:nvSpPr>
          <p:cNvPr id="92" name="Step 4 graph weight B-E"/>
          <p:cNvSpPr txBox="1"/>
          <p:nvPr/>
        </p:nvSpPr>
        <p:spPr>
          <a:xfrm>
            <a:off x="1920240" y="331012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8</a:t>
            </a:r>
            <a:endParaRPr lang="en-US" sz="1000" dirty="0"/>
          </a:p>
        </p:txBody>
      </p:sp>
      <p:sp>
        <p:nvSpPr>
          <p:cNvPr id="93" name="Step 4 graph vertex A"/>
          <p:cNvSpPr txBox="1"/>
          <p:nvPr/>
        </p:nvSpPr>
        <p:spPr>
          <a:xfrm>
            <a:off x="886968" y="3483864"/>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94" name="Step 4 graph vertex B"/>
          <p:cNvSpPr txBox="1"/>
          <p:nvPr/>
        </p:nvSpPr>
        <p:spPr>
          <a:xfrm>
            <a:off x="1837944" y="2971800"/>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95" name="Step 4 graph vertex C"/>
          <p:cNvSpPr txBox="1"/>
          <p:nvPr/>
        </p:nvSpPr>
        <p:spPr>
          <a:xfrm>
            <a:off x="1472184" y="399592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96" name="Step 4 graph vertex D"/>
          <p:cNvSpPr txBox="1"/>
          <p:nvPr/>
        </p:nvSpPr>
        <p:spPr>
          <a:xfrm>
            <a:off x="2496312" y="399592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D</a:t>
            </a:r>
            <a:endParaRPr lang="en-US" sz="1100" dirty="0"/>
          </a:p>
        </p:txBody>
      </p:sp>
      <p:sp>
        <p:nvSpPr>
          <p:cNvPr id="97" name="Step 4 graph vertex E"/>
          <p:cNvSpPr txBox="1"/>
          <p:nvPr/>
        </p:nvSpPr>
        <p:spPr>
          <a:xfrm>
            <a:off x="1947672" y="3557016"/>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E</a:t>
            </a:r>
            <a:endParaRPr lang="en-US" sz="1100" dirty="0"/>
          </a:p>
        </p:txBody>
      </p:sp>
      <p:sp>
        <p:nvSpPr>
          <p:cNvPr id="98" name="Shape 95"/>
          <p:cNvSpPr/>
          <p:nvPr/>
        </p:nvSpPr>
        <p:spPr>
          <a:xfrm>
            <a:off x="3063240" y="3621024"/>
            <a:ext cx="274320" cy="0"/>
          </a:xfrm>
          <a:prstGeom prst="line">
            <a:avLst/>
          </a:prstGeom>
          <a:noFill/>
          <a:ln w="22225">
            <a:solidFill>
              <a:schemeClr val="accent4"/>
            </a:solidFill>
            <a:prstDash val="solid"/>
            <a:tailEnd type="triangle"/>
          </a:ln>
        </p:spPr>
      </p:sp>
      <p:sp>
        <p:nvSpPr>
          <p:cNvPr id="99" name="Step number 5"/>
          <p:cNvSpPr txBox="1"/>
          <p:nvPr/>
        </p:nvSpPr>
        <p:spPr>
          <a:xfrm>
            <a:off x="3200400" y="2697480"/>
            <a:ext cx="310896" cy="310896"/>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00" name="Step label 5"/>
          <p:cNvSpPr txBox="1"/>
          <p:nvPr/>
        </p:nvSpPr>
        <p:spPr>
          <a:xfrm>
            <a:off x="3584448" y="2651760"/>
            <a:ext cx="2240280" cy="411480"/>
          </a:xfrm>
          <a:prstGeom prst="rect">
            <a:avLst/>
          </a:prstGeom>
          <a:noFill/>
          <a:ln/>
        </p:spPr>
        <p:txBody>
          <a:bodyPr wrap="square" lIns="0" tIns="0" rIns="0" bIns="0" rtlCol="0" anchor="ctr"/>
          <a:lstStyle/>
          <a:p>
            <a:pPr indent="0" marL="0">
              <a:buNone/>
            </a:pPr>
            <a:r>
              <a:rPr lang="en-US" sz="1200" b="1" dirty="0">
                <a:solidFill>
                  <a:schemeClr val="tx2"/>
                </a:solidFill>
              </a:rPr>
              <a:t>C–D (5): </a:t>
            </a:r>
            <a:pPr indent="0" marL="0">
              <a:buNone/>
            </a:pPr>
            <a:r>
              <a:rPr lang="en-US" sz="1200" b="1" dirty="0">
                <a:solidFill>
                  <a:schemeClr val="accent3"/>
                </a:solidFill>
              </a:rPr>
              <a:t>REJECT</a:t>
            </a:r>
            <a:pPr indent="0" marL="0">
              <a:buNone/>
            </a:pPr>
            <a:r>
              <a:rPr lang="en-US" sz="1200" dirty="0">
                <a:solidFill>
                  <a:schemeClr val="tx1"/>
                </a:solidFill>
              </a:rPr>
              <a:t> – creates a cycle</a:t>
            </a:r>
            <a:endParaRPr lang="en-US" sz="1200" dirty="0"/>
          </a:p>
        </p:txBody>
      </p:sp>
      <p:sp>
        <p:nvSpPr>
          <p:cNvPr id="101" name="Step 5 graph edge A-B"/>
          <p:cNvSpPr/>
          <p:nvPr/>
        </p:nvSpPr>
        <p:spPr>
          <a:xfrm flipV="1">
            <a:off x="3767328" y="3108960"/>
            <a:ext cx="950976" cy="512064"/>
          </a:xfrm>
          <a:prstGeom prst="line">
            <a:avLst/>
          </a:prstGeom>
          <a:noFill/>
          <a:ln w="38100">
            <a:solidFill>
              <a:schemeClr val="accent2"/>
            </a:solidFill>
            <a:prstDash val="solid"/>
          </a:ln>
        </p:spPr>
      </p:sp>
      <p:sp>
        <p:nvSpPr>
          <p:cNvPr id="102" name="Step 5 graph edge B-C"/>
          <p:cNvSpPr/>
          <p:nvPr/>
        </p:nvSpPr>
        <p:spPr>
          <a:xfrm flipH="1">
            <a:off x="4352544" y="3108960"/>
            <a:ext cx="365760" cy="1024128"/>
          </a:xfrm>
          <a:prstGeom prst="line">
            <a:avLst/>
          </a:prstGeom>
          <a:noFill/>
          <a:ln w="38100">
            <a:solidFill>
              <a:schemeClr val="accent2"/>
            </a:solidFill>
            <a:prstDash val="solid"/>
          </a:ln>
        </p:spPr>
      </p:sp>
      <p:sp>
        <p:nvSpPr>
          <p:cNvPr id="103" name="Step 5 graph edge A-C"/>
          <p:cNvSpPr/>
          <p:nvPr/>
        </p:nvSpPr>
        <p:spPr>
          <a:xfrm>
            <a:off x="3767328" y="3621024"/>
            <a:ext cx="585216" cy="512064"/>
          </a:xfrm>
          <a:prstGeom prst="line">
            <a:avLst/>
          </a:prstGeom>
          <a:noFill/>
          <a:ln w="22225">
            <a:solidFill>
              <a:schemeClr val="accent3"/>
            </a:solidFill>
            <a:prstDash val="dash"/>
          </a:ln>
        </p:spPr>
      </p:sp>
      <p:sp>
        <p:nvSpPr>
          <p:cNvPr id="104" name="Step 5 graph edge B-D"/>
          <p:cNvSpPr/>
          <p:nvPr/>
        </p:nvSpPr>
        <p:spPr>
          <a:xfrm>
            <a:off x="4718304" y="3108960"/>
            <a:ext cx="658368" cy="1024128"/>
          </a:xfrm>
          <a:prstGeom prst="line">
            <a:avLst/>
          </a:prstGeom>
          <a:noFill/>
          <a:ln w="38100">
            <a:solidFill>
              <a:schemeClr val="accent2"/>
            </a:solidFill>
            <a:prstDash val="solid"/>
          </a:ln>
        </p:spPr>
      </p:sp>
      <p:sp>
        <p:nvSpPr>
          <p:cNvPr id="105" name="Step 5 graph edge C-D"/>
          <p:cNvSpPr/>
          <p:nvPr/>
        </p:nvSpPr>
        <p:spPr>
          <a:xfrm>
            <a:off x="4352544" y="4133088"/>
            <a:ext cx="1024128" cy="0"/>
          </a:xfrm>
          <a:prstGeom prst="line">
            <a:avLst/>
          </a:prstGeom>
          <a:noFill/>
          <a:ln w="22225">
            <a:solidFill>
              <a:schemeClr val="accent3"/>
            </a:solidFill>
            <a:prstDash val="dash"/>
          </a:ln>
        </p:spPr>
      </p:sp>
      <p:sp>
        <p:nvSpPr>
          <p:cNvPr id="106" name="Step 5 graph edge C-E"/>
          <p:cNvSpPr/>
          <p:nvPr/>
        </p:nvSpPr>
        <p:spPr>
          <a:xfrm flipV="1">
            <a:off x="4352544" y="3694176"/>
            <a:ext cx="475488" cy="438912"/>
          </a:xfrm>
          <a:prstGeom prst="line">
            <a:avLst/>
          </a:prstGeom>
          <a:noFill/>
          <a:ln w="15875">
            <a:solidFill>
              <a:schemeClr val="accent5"/>
            </a:solidFill>
            <a:prstDash val="dash"/>
          </a:ln>
        </p:spPr>
      </p:sp>
      <p:sp>
        <p:nvSpPr>
          <p:cNvPr id="107" name="Step 5 graph edge D-E"/>
          <p:cNvSpPr/>
          <p:nvPr/>
        </p:nvSpPr>
        <p:spPr>
          <a:xfrm flipH="1" flipV="1">
            <a:off x="4828032" y="3694176"/>
            <a:ext cx="548640" cy="438912"/>
          </a:xfrm>
          <a:prstGeom prst="line">
            <a:avLst/>
          </a:prstGeom>
          <a:noFill/>
          <a:ln w="15875">
            <a:solidFill>
              <a:schemeClr val="accent5"/>
            </a:solidFill>
            <a:prstDash val="dash"/>
          </a:ln>
        </p:spPr>
      </p:sp>
      <p:sp>
        <p:nvSpPr>
          <p:cNvPr id="108" name="Step 5 graph edge B-E"/>
          <p:cNvSpPr/>
          <p:nvPr/>
        </p:nvSpPr>
        <p:spPr>
          <a:xfrm>
            <a:off x="4718304" y="3108960"/>
            <a:ext cx="109728" cy="585216"/>
          </a:xfrm>
          <a:prstGeom prst="line">
            <a:avLst/>
          </a:prstGeom>
          <a:noFill/>
          <a:ln w="15875">
            <a:solidFill>
              <a:schemeClr val="accent5"/>
            </a:solidFill>
            <a:prstDash val="dash"/>
          </a:ln>
        </p:spPr>
      </p:sp>
      <p:sp>
        <p:nvSpPr>
          <p:cNvPr id="109" name="Step 5 graph weight A-B"/>
          <p:cNvSpPr txBox="1"/>
          <p:nvPr/>
        </p:nvSpPr>
        <p:spPr>
          <a:xfrm>
            <a:off x="4133088" y="327355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110" name="Step 5 graph weight B-C"/>
          <p:cNvSpPr txBox="1"/>
          <p:nvPr/>
        </p:nvSpPr>
        <p:spPr>
          <a:xfrm>
            <a:off x="4425696" y="352958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2</a:t>
            </a:r>
            <a:endParaRPr lang="en-US" sz="1000" dirty="0"/>
          </a:p>
        </p:txBody>
      </p:sp>
      <p:sp>
        <p:nvSpPr>
          <p:cNvPr id="111" name="Step 5 graph weight A-C"/>
          <p:cNvSpPr txBox="1"/>
          <p:nvPr/>
        </p:nvSpPr>
        <p:spPr>
          <a:xfrm>
            <a:off x="3950208" y="3785616"/>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3"/>
                </a:solidFill>
              </a:rPr>
              <a:t>3</a:t>
            </a:r>
            <a:endParaRPr lang="en-US" sz="1000" dirty="0"/>
          </a:p>
        </p:txBody>
      </p:sp>
      <p:sp>
        <p:nvSpPr>
          <p:cNvPr id="112" name="Step 5 graph weight B-D"/>
          <p:cNvSpPr txBox="1"/>
          <p:nvPr/>
        </p:nvSpPr>
        <p:spPr>
          <a:xfrm>
            <a:off x="4937760" y="352958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4</a:t>
            </a:r>
            <a:endParaRPr lang="en-US" sz="1000" dirty="0"/>
          </a:p>
        </p:txBody>
      </p:sp>
      <p:sp>
        <p:nvSpPr>
          <p:cNvPr id="113" name="Step 5 graph weight C-D"/>
          <p:cNvSpPr txBox="1"/>
          <p:nvPr/>
        </p:nvSpPr>
        <p:spPr>
          <a:xfrm>
            <a:off x="4754880" y="404164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3"/>
                </a:solidFill>
              </a:rPr>
              <a:t>5</a:t>
            </a:r>
            <a:endParaRPr lang="en-US" sz="1000" dirty="0"/>
          </a:p>
        </p:txBody>
      </p:sp>
      <p:sp>
        <p:nvSpPr>
          <p:cNvPr id="114" name="Step 5 graph weight C-E"/>
          <p:cNvSpPr txBox="1"/>
          <p:nvPr/>
        </p:nvSpPr>
        <p:spPr>
          <a:xfrm>
            <a:off x="4480560" y="382219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6</a:t>
            </a:r>
            <a:endParaRPr lang="en-US" sz="1000" dirty="0"/>
          </a:p>
        </p:txBody>
      </p:sp>
      <p:sp>
        <p:nvSpPr>
          <p:cNvPr id="115" name="Step 5 graph weight D-E"/>
          <p:cNvSpPr txBox="1"/>
          <p:nvPr/>
        </p:nvSpPr>
        <p:spPr>
          <a:xfrm>
            <a:off x="4992624" y="382219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7</a:t>
            </a:r>
            <a:endParaRPr lang="en-US" sz="1000" dirty="0"/>
          </a:p>
        </p:txBody>
      </p:sp>
      <p:sp>
        <p:nvSpPr>
          <p:cNvPr id="116" name="Step 5 graph weight B-E"/>
          <p:cNvSpPr txBox="1"/>
          <p:nvPr/>
        </p:nvSpPr>
        <p:spPr>
          <a:xfrm>
            <a:off x="4663440" y="331012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8</a:t>
            </a:r>
            <a:endParaRPr lang="en-US" sz="1000" dirty="0"/>
          </a:p>
        </p:txBody>
      </p:sp>
      <p:sp>
        <p:nvSpPr>
          <p:cNvPr id="117" name="Step 5 graph vertex A"/>
          <p:cNvSpPr txBox="1"/>
          <p:nvPr/>
        </p:nvSpPr>
        <p:spPr>
          <a:xfrm>
            <a:off x="3630168" y="3483864"/>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118" name="Step 5 graph vertex B"/>
          <p:cNvSpPr txBox="1"/>
          <p:nvPr/>
        </p:nvSpPr>
        <p:spPr>
          <a:xfrm>
            <a:off x="4581144" y="2971800"/>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119" name="Step 5 graph vertex C"/>
          <p:cNvSpPr txBox="1"/>
          <p:nvPr/>
        </p:nvSpPr>
        <p:spPr>
          <a:xfrm>
            <a:off x="4215384" y="399592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120" name="Step 5 graph vertex D"/>
          <p:cNvSpPr txBox="1"/>
          <p:nvPr/>
        </p:nvSpPr>
        <p:spPr>
          <a:xfrm>
            <a:off x="5239512" y="399592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D</a:t>
            </a:r>
            <a:endParaRPr lang="en-US" sz="1100" dirty="0"/>
          </a:p>
        </p:txBody>
      </p:sp>
      <p:sp>
        <p:nvSpPr>
          <p:cNvPr id="121" name="Step 5 graph vertex E"/>
          <p:cNvSpPr txBox="1"/>
          <p:nvPr/>
        </p:nvSpPr>
        <p:spPr>
          <a:xfrm>
            <a:off x="4690872" y="3557016"/>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E</a:t>
            </a:r>
            <a:endParaRPr lang="en-US" sz="1100" dirty="0"/>
          </a:p>
        </p:txBody>
      </p:sp>
      <p:sp>
        <p:nvSpPr>
          <p:cNvPr id="122" name="Shape 119"/>
          <p:cNvSpPr/>
          <p:nvPr/>
        </p:nvSpPr>
        <p:spPr>
          <a:xfrm>
            <a:off x="5806440" y="3621024"/>
            <a:ext cx="274320" cy="0"/>
          </a:xfrm>
          <a:prstGeom prst="line">
            <a:avLst/>
          </a:prstGeom>
          <a:noFill/>
          <a:ln w="22225">
            <a:solidFill>
              <a:schemeClr val="accent4"/>
            </a:solidFill>
            <a:prstDash val="solid"/>
            <a:tailEnd type="triangle"/>
          </a:ln>
        </p:spPr>
      </p:sp>
      <p:sp>
        <p:nvSpPr>
          <p:cNvPr id="123" name="Step number 6"/>
          <p:cNvSpPr txBox="1"/>
          <p:nvPr/>
        </p:nvSpPr>
        <p:spPr>
          <a:xfrm>
            <a:off x="5943600" y="2697480"/>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24" name="Step label 6"/>
          <p:cNvSpPr txBox="1"/>
          <p:nvPr/>
        </p:nvSpPr>
        <p:spPr>
          <a:xfrm>
            <a:off x="6327648" y="2651760"/>
            <a:ext cx="2240280" cy="411480"/>
          </a:xfrm>
          <a:prstGeom prst="rect">
            <a:avLst/>
          </a:prstGeom>
          <a:noFill/>
          <a:ln/>
        </p:spPr>
        <p:txBody>
          <a:bodyPr wrap="square" lIns="0" tIns="0" rIns="0" bIns="0" rtlCol="0" anchor="ctr"/>
          <a:lstStyle/>
          <a:p>
            <a:pPr indent="0" marL="0">
              <a:buNone/>
            </a:pPr>
            <a:r>
              <a:rPr lang="en-US" sz="1200" b="1" dirty="0">
                <a:solidFill>
                  <a:schemeClr val="tx2"/>
                </a:solidFill>
              </a:rPr>
              <a:t>C–E (6): </a:t>
            </a:r>
            <a:pPr indent="0" marL="0">
              <a:buNone/>
            </a:pPr>
            <a:r>
              <a:rPr lang="en-US" sz="1200" b="1" dirty="0">
                <a:solidFill>
                  <a:schemeClr val="accent2"/>
                </a:solidFill>
              </a:rPr>
              <a:t>SELECT</a:t>
            </a:r>
            <a:pPr indent="0" marL="0">
              <a:buNone/>
            </a:pPr>
            <a:r>
              <a:rPr lang="en-US" sz="1200" dirty="0">
                <a:solidFill>
                  <a:schemeClr val="tx1"/>
                </a:solidFill>
              </a:rPr>
              <a:t> – 4 edges, stop</a:t>
            </a:r>
            <a:endParaRPr lang="en-US" sz="1200" dirty="0"/>
          </a:p>
        </p:txBody>
      </p:sp>
      <p:sp>
        <p:nvSpPr>
          <p:cNvPr id="125" name="Step 6 graph edge A-B"/>
          <p:cNvSpPr/>
          <p:nvPr/>
        </p:nvSpPr>
        <p:spPr>
          <a:xfrm flipV="1">
            <a:off x="6510528" y="3108960"/>
            <a:ext cx="950976" cy="512064"/>
          </a:xfrm>
          <a:prstGeom prst="line">
            <a:avLst/>
          </a:prstGeom>
          <a:noFill/>
          <a:ln w="38100">
            <a:solidFill>
              <a:schemeClr val="accent2"/>
            </a:solidFill>
            <a:prstDash val="solid"/>
          </a:ln>
        </p:spPr>
      </p:sp>
      <p:sp>
        <p:nvSpPr>
          <p:cNvPr id="126" name="Step 6 graph edge B-C"/>
          <p:cNvSpPr/>
          <p:nvPr/>
        </p:nvSpPr>
        <p:spPr>
          <a:xfrm flipH="1">
            <a:off x="7095744" y="3108960"/>
            <a:ext cx="365760" cy="1024128"/>
          </a:xfrm>
          <a:prstGeom prst="line">
            <a:avLst/>
          </a:prstGeom>
          <a:noFill/>
          <a:ln w="38100">
            <a:solidFill>
              <a:schemeClr val="accent2"/>
            </a:solidFill>
            <a:prstDash val="solid"/>
          </a:ln>
        </p:spPr>
      </p:sp>
      <p:sp>
        <p:nvSpPr>
          <p:cNvPr id="127" name="Step 6 graph edge A-C"/>
          <p:cNvSpPr/>
          <p:nvPr/>
        </p:nvSpPr>
        <p:spPr>
          <a:xfrm>
            <a:off x="6510528" y="3621024"/>
            <a:ext cx="585216" cy="512064"/>
          </a:xfrm>
          <a:prstGeom prst="line">
            <a:avLst/>
          </a:prstGeom>
          <a:noFill/>
          <a:ln w="22225">
            <a:solidFill>
              <a:schemeClr val="accent3"/>
            </a:solidFill>
            <a:prstDash val="dash"/>
          </a:ln>
        </p:spPr>
      </p:sp>
      <p:sp>
        <p:nvSpPr>
          <p:cNvPr id="128" name="Step 6 graph edge B-D"/>
          <p:cNvSpPr/>
          <p:nvPr/>
        </p:nvSpPr>
        <p:spPr>
          <a:xfrm>
            <a:off x="7461504" y="3108960"/>
            <a:ext cx="658368" cy="1024128"/>
          </a:xfrm>
          <a:prstGeom prst="line">
            <a:avLst/>
          </a:prstGeom>
          <a:noFill/>
          <a:ln w="38100">
            <a:solidFill>
              <a:schemeClr val="accent2"/>
            </a:solidFill>
            <a:prstDash val="solid"/>
          </a:ln>
        </p:spPr>
      </p:sp>
      <p:sp>
        <p:nvSpPr>
          <p:cNvPr id="129" name="Step 6 graph edge C-D"/>
          <p:cNvSpPr/>
          <p:nvPr/>
        </p:nvSpPr>
        <p:spPr>
          <a:xfrm>
            <a:off x="7095744" y="4133088"/>
            <a:ext cx="1024128" cy="0"/>
          </a:xfrm>
          <a:prstGeom prst="line">
            <a:avLst/>
          </a:prstGeom>
          <a:noFill/>
          <a:ln w="22225">
            <a:solidFill>
              <a:schemeClr val="accent3"/>
            </a:solidFill>
            <a:prstDash val="dash"/>
          </a:ln>
        </p:spPr>
      </p:sp>
      <p:sp>
        <p:nvSpPr>
          <p:cNvPr id="130" name="Step 6 graph edge C-E"/>
          <p:cNvSpPr/>
          <p:nvPr/>
        </p:nvSpPr>
        <p:spPr>
          <a:xfrm flipV="1">
            <a:off x="7095744" y="3694176"/>
            <a:ext cx="475488" cy="438912"/>
          </a:xfrm>
          <a:prstGeom prst="line">
            <a:avLst/>
          </a:prstGeom>
          <a:noFill/>
          <a:ln w="38100">
            <a:solidFill>
              <a:schemeClr val="accent2"/>
            </a:solidFill>
            <a:prstDash val="solid"/>
          </a:ln>
        </p:spPr>
      </p:sp>
      <p:sp>
        <p:nvSpPr>
          <p:cNvPr id="131" name="Step 6 graph edge D-E"/>
          <p:cNvSpPr/>
          <p:nvPr/>
        </p:nvSpPr>
        <p:spPr>
          <a:xfrm flipH="1" flipV="1">
            <a:off x="7571232" y="3694176"/>
            <a:ext cx="548640" cy="438912"/>
          </a:xfrm>
          <a:prstGeom prst="line">
            <a:avLst/>
          </a:prstGeom>
          <a:noFill/>
          <a:ln w="15875">
            <a:solidFill>
              <a:schemeClr val="accent5"/>
            </a:solidFill>
            <a:prstDash val="dash"/>
          </a:ln>
        </p:spPr>
      </p:sp>
      <p:sp>
        <p:nvSpPr>
          <p:cNvPr id="132" name="Step 6 graph edge B-E"/>
          <p:cNvSpPr/>
          <p:nvPr/>
        </p:nvSpPr>
        <p:spPr>
          <a:xfrm>
            <a:off x="7461504" y="3108960"/>
            <a:ext cx="109728" cy="585216"/>
          </a:xfrm>
          <a:prstGeom prst="line">
            <a:avLst/>
          </a:prstGeom>
          <a:noFill/>
          <a:ln w="15875">
            <a:solidFill>
              <a:schemeClr val="accent5"/>
            </a:solidFill>
            <a:prstDash val="dash"/>
          </a:ln>
        </p:spPr>
      </p:sp>
      <p:sp>
        <p:nvSpPr>
          <p:cNvPr id="133" name="Step 6 graph weight A-B"/>
          <p:cNvSpPr txBox="1"/>
          <p:nvPr/>
        </p:nvSpPr>
        <p:spPr>
          <a:xfrm>
            <a:off x="6876288" y="327355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134" name="Step 6 graph weight B-C"/>
          <p:cNvSpPr txBox="1"/>
          <p:nvPr/>
        </p:nvSpPr>
        <p:spPr>
          <a:xfrm>
            <a:off x="7168896" y="352958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2</a:t>
            </a:r>
            <a:endParaRPr lang="en-US" sz="1000" dirty="0"/>
          </a:p>
        </p:txBody>
      </p:sp>
      <p:sp>
        <p:nvSpPr>
          <p:cNvPr id="135" name="Step 6 graph weight A-C"/>
          <p:cNvSpPr txBox="1"/>
          <p:nvPr/>
        </p:nvSpPr>
        <p:spPr>
          <a:xfrm>
            <a:off x="6693408" y="3785616"/>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3"/>
                </a:solidFill>
              </a:rPr>
              <a:t>3</a:t>
            </a:r>
            <a:endParaRPr lang="en-US" sz="1000" dirty="0"/>
          </a:p>
        </p:txBody>
      </p:sp>
      <p:sp>
        <p:nvSpPr>
          <p:cNvPr id="136" name="Step 6 graph weight B-D"/>
          <p:cNvSpPr txBox="1"/>
          <p:nvPr/>
        </p:nvSpPr>
        <p:spPr>
          <a:xfrm>
            <a:off x="7680960" y="3529584"/>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4</a:t>
            </a:r>
            <a:endParaRPr lang="en-US" sz="1000" dirty="0"/>
          </a:p>
        </p:txBody>
      </p:sp>
      <p:sp>
        <p:nvSpPr>
          <p:cNvPr id="137" name="Step 6 graph weight C-D"/>
          <p:cNvSpPr txBox="1"/>
          <p:nvPr/>
        </p:nvSpPr>
        <p:spPr>
          <a:xfrm>
            <a:off x="7498080" y="404164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3"/>
                </a:solidFill>
              </a:rPr>
              <a:t>5</a:t>
            </a:r>
            <a:endParaRPr lang="en-US" sz="1000" dirty="0"/>
          </a:p>
        </p:txBody>
      </p:sp>
      <p:sp>
        <p:nvSpPr>
          <p:cNvPr id="138" name="Step 6 graph weight C-E"/>
          <p:cNvSpPr txBox="1"/>
          <p:nvPr/>
        </p:nvSpPr>
        <p:spPr>
          <a:xfrm>
            <a:off x="7223760" y="382219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2"/>
                </a:solidFill>
              </a:rPr>
              <a:t>6</a:t>
            </a:r>
            <a:endParaRPr lang="en-US" sz="1000" dirty="0"/>
          </a:p>
        </p:txBody>
      </p:sp>
      <p:sp>
        <p:nvSpPr>
          <p:cNvPr id="139" name="Step 6 graph weight D-E"/>
          <p:cNvSpPr txBox="1"/>
          <p:nvPr/>
        </p:nvSpPr>
        <p:spPr>
          <a:xfrm>
            <a:off x="7735824" y="3822192"/>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7</a:t>
            </a:r>
            <a:endParaRPr lang="en-US" sz="1000" dirty="0"/>
          </a:p>
        </p:txBody>
      </p:sp>
      <p:sp>
        <p:nvSpPr>
          <p:cNvPr id="140" name="Step 6 graph weight B-E"/>
          <p:cNvSpPr txBox="1"/>
          <p:nvPr/>
        </p:nvSpPr>
        <p:spPr>
          <a:xfrm>
            <a:off x="7406640" y="3310128"/>
            <a:ext cx="219456" cy="182880"/>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4"/>
                </a:solidFill>
              </a:rPr>
              <a:t>8</a:t>
            </a:r>
            <a:endParaRPr lang="en-US" sz="1000" dirty="0"/>
          </a:p>
        </p:txBody>
      </p:sp>
      <p:sp>
        <p:nvSpPr>
          <p:cNvPr id="141" name="Step 6 graph vertex A"/>
          <p:cNvSpPr txBox="1"/>
          <p:nvPr/>
        </p:nvSpPr>
        <p:spPr>
          <a:xfrm>
            <a:off x="6373368" y="3483864"/>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142" name="Step 6 graph vertex B"/>
          <p:cNvSpPr txBox="1"/>
          <p:nvPr/>
        </p:nvSpPr>
        <p:spPr>
          <a:xfrm>
            <a:off x="7324344" y="2971800"/>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143" name="Step 6 graph vertex C"/>
          <p:cNvSpPr txBox="1"/>
          <p:nvPr/>
        </p:nvSpPr>
        <p:spPr>
          <a:xfrm>
            <a:off x="6958584" y="399592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144" name="Step 6 graph vertex D"/>
          <p:cNvSpPr txBox="1"/>
          <p:nvPr/>
        </p:nvSpPr>
        <p:spPr>
          <a:xfrm>
            <a:off x="7982712" y="3995928"/>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D</a:t>
            </a:r>
            <a:endParaRPr lang="en-US" sz="1100" dirty="0"/>
          </a:p>
        </p:txBody>
      </p:sp>
      <p:sp>
        <p:nvSpPr>
          <p:cNvPr id="145" name="Step 6 graph vertex E"/>
          <p:cNvSpPr txBox="1"/>
          <p:nvPr/>
        </p:nvSpPr>
        <p:spPr>
          <a:xfrm>
            <a:off x="7434072" y="3557016"/>
            <a:ext cx="274320" cy="274320"/>
          </a:xfrm>
          <a:prstGeom prst="ellipse">
            <a:avLst/>
          </a:prstGeom>
          <a:solidFill>
            <a:schemeClr val="accent1"/>
          </a:solidFill>
          <a:ln w="12700">
            <a:solidFill>
              <a:schemeClr val="bg1"/>
            </a:solidFill>
          </a:ln>
        </p:spPr>
        <p:txBody>
          <a:bodyPr wrap="square" lIns="0" tIns="0" rIns="0" bIns="0" rtlCol="0" anchor="ctr"/>
          <a:lstStyle/>
          <a:p>
            <a:pPr algn="ctr" indent="0" marL="0">
              <a:buNone/>
            </a:pPr>
            <a:r>
              <a:rPr lang="en-US" sz="1100" b="1" dirty="0">
                <a:solidFill>
                  <a:schemeClr val="bg1"/>
                </a:solidFill>
              </a:rPr>
              <a:t>E</a:t>
            </a:r>
            <a:endParaRPr lang="en-US" sz="1100" dirty="0"/>
          </a:p>
        </p:txBody>
      </p:sp>
      <p:sp>
        <p:nvSpPr>
          <p:cNvPr id="146" name="Shape 143"/>
          <p:cNvSpPr/>
          <p:nvPr/>
        </p:nvSpPr>
        <p:spPr>
          <a:xfrm>
            <a:off x="457200" y="4553712"/>
            <a:ext cx="320040" cy="0"/>
          </a:xfrm>
          <a:prstGeom prst="line">
            <a:avLst/>
          </a:prstGeom>
          <a:noFill/>
          <a:ln w="38100">
            <a:solidFill>
              <a:schemeClr val="accent2"/>
            </a:solidFill>
            <a:prstDash val="solid"/>
          </a:ln>
        </p:spPr>
      </p:sp>
      <p:sp>
        <p:nvSpPr>
          <p:cNvPr id="147" name="Legend Selected"/>
          <p:cNvSpPr txBox="1"/>
          <p:nvPr/>
        </p:nvSpPr>
        <p:spPr>
          <a:xfrm>
            <a:off x="868680" y="4434840"/>
            <a:ext cx="1097280" cy="237744"/>
          </a:xfrm>
          <a:prstGeom prst="rect">
            <a:avLst/>
          </a:prstGeom>
          <a:noFill/>
          <a:ln/>
        </p:spPr>
        <p:txBody>
          <a:bodyPr wrap="square" lIns="0" tIns="0" rIns="0" bIns="0" rtlCol="0" anchor="ctr"/>
          <a:lstStyle/>
          <a:p>
            <a:pPr indent="0" marL="0">
              <a:buNone/>
            </a:pPr>
            <a:r>
              <a:rPr lang="en-US" sz="1200" dirty="0">
                <a:solidFill>
                  <a:schemeClr val="tx1"/>
                </a:solidFill>
              </a:rPr>
              <a:t>Selected</a:t>
            </a:r>
            <a:endParaRPr lang="en-US" sz="1200" dirty="0"/>
          </a:p>
        </p:txBody>
      </p:sp>
      <p:sp>
        <p:nvSpPr>
          <p:cNvPr id="148" name="Shape 145"/>
          <p:cNvSpPr/>
          <p:nvPr/>
        </p:nvSpPr>
        <p:spPr>
          <a:xfrm>
            <a:off x="1783080" y="4553712"/>
            <a:ext cx="320040" cy="0"/>
          </a:xfrm>
          <a:prstGeom prst="line">
            <a:avLst/>
          </a:prstGeom>
          <a:noFill/>
          <a:ln w="22225">
            <a:solidFill>
              <a:schemeClr val="accent3"/>
            </a:solidFill>
            <a:prstDash val="dash"/>
          </a:ln>
        </p:spPr>
      </p:sp>
      <p:sp>
        <p:nvSpPr>
          <p:cNvPr id="149" name="Legend Rejected (cycle)"/>
          <p:cNvSpPr txBox="1"/>
          <p:nvPr/>
        </p:nvSpPr>
        <p:spPr>
          <a:xfrm>
            <a:off x="2194560" y="4434840"/>
            <a:ext cx="1463040" cy="237744"/>
          </a:xfrm>
          <a:prstGeom prst="rect">
            <a:avLst/>
          </a:prstGeom>
          <a:noFill/>
          <a:ln/>
        </p:spPr>
        <p:txBody>
          <a:bodyPr wrap="square" lIns="0" tIns="0" rIns="0" bIns="0" rtlCol="0" anchor="ctr"/>
          <a:lstStyle/>
          <a:p>
            <a:pPr indent="0" marL="0">
              <a:buNone/>
            </a:pPr>
            <a:r>
              <a:rPr lang="en-US" sz="1200" dirty="0">
                <a:solidFill>
                  <a:schemeClr val="tx1"/>
                </a:solidFill>
              </a:rPr>
              <a:t>Rejected (cycle)</a:t>
            </a:r>
            <a:endParaRPr lang="en-US" sz="1200" dirty="0"/>
          </a:p>
        </p:txBody>
      </p:sp>
      <p:sp>
        <p:nvSpPr>
          <p:cNvPr id="150" name="Shape 147"/>
          <p:cNvSpPr/>
          <p:nvPr/>
        </p:nvSpPr>
        <p:spPr>
          <a:xfrm>
            <a:off x="3657600" y="4553712"/>
            <a:ext cx="320040" cy="0"/>
          </a:xfrm>
          <a:prstGeom prst="line">
            <a:avLst/>
          </a:prstGeom>
          <a:noFill/>
          <a:ln w="15875">
            <a:solidFill>
              <a:schemeClr val="accent5"/>
            </a:solidFill>
            <a:prstDash val="dash"/>
          </a:ln>
        </p:spPr>
      </p:sp>
      <p:sp>
        <p:nvSpPr>
          <p:cNvPr id="151" name="Legend Not yet checked"/>
          <p:cNvSpPr txBox="1"/>
          <p:nvPr/>
        </p:nvSpPr>
        <p:spPr>
          <a:xfrm>
            <a:off x="4069080" y="4434840"/>
            <a:ext cx="1463040" cy="237744"/>
          </a:xfrm>
          <a:prstGeom prst="rect">
            <a:avLst/>
          </a:prstGeom>
          <a:noFill/>
          <a:ln/>
        </p:spPr>
        <p:txBody>
          <a:bodyPr wrap="square" lIns="0" tIns="0" rIns="0" bIns="0" rtlCol="0" anchor="ctr"/>
          <a:lstStyle/>
          <a:p>
            <a:pPr indent="0" marL="0">
              <a:buNone/>
            </a:pPr>
            <a:r>
              <a:rPr lang="en-US" sz="1200" dirty="0">
                <a:solidFill>
                  <a:schemeClr val="tx1"/>
                </a:solidFill>
              </a:rPr>
              <a:t>Not yet checked</a:t>
            </a:r>
            <a:endParaRPr lang="en-US" sz="1200" dirty="0"/>
          </a:p>
        </p:txBody>
      </p:sp>
      <p:sp>
        <p:nvSpPr>
          <p:cNvPr id="152" name="Never checked note"/>
          <p:cNvSpPr txBox="1"/>
          <p:nvPr/>
        </p:nvSpPr>
        <p:spPr>
          <a:xfrm>
            <a:off x="5669280" y="4434840"/>
            <a:ext cx="3017520" cy="237744"/>
          </a:xfrm>
          <a:prstGeom prst="rect">
            <a:avLst/>
          </a:prstGeom>
          <a:noFill/>
          <a:ln/>
        </p:spPr>
        <p:txBody>
          <a:bodyPr wrap="square" lIns="0" tIns="0" rIns="0" bIns="0" rtlCol="0" anchor="ctr"/>
          <a:lstStyle/>
          <a:p>
            <a:pPr algn="r" indent="0" marL="0">
              <a:buNone/>
            </a:pPr>
            <a:r>
              <a:rPr lang="en-US" sz="1200" dirty="0">
                <a:solidFill>
                  <a:schemeClr val="accent4"/>
                </a:solidFill>
              </a:rPr>
              <a:t>D–E and B–E are never checked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Final Minimum Spanning Tree</a:t>
            </a:r>
            <a:endParaRPr lang="en-US" sz="3000" dirty="0"/>
          </a:p>
        </p:txBody>
      </p:sp>
      <p:sp>
        <p:nvSpPr>
          <p:cNvPr id="4" name="Final MST edge A-B"/>
          <p:cNvSpPr/>
          <p:nvPr/>
        </p:nvSpPr>
        <p:spPr>
          <a:xfrm flipV="1">
            <a:off x="731520" y="1417320"/>
            <a:ext cx="2377440" cy="1280160"/>
          </a:xfrm>
          <a:prstGeom prst="line">
            <a:avLst/>
          </a:prstGeom>
          <a:noFill/>
          <a:ln w="50800">
            <a:solidFill>
              <a:schemeClr val="accent2"/>
            </a:solidFill>
            <a:prstDash val="solid"/>
          </a:ln>
        </p:spPr>
      </p:sp>
      <p:sp>
        <p:nvSpPr>
          <p:cNvPr id="5" name="Final MST edge B-C"/>
          <p:cNvSpPr/>
          <p:nvPr/>
        </p:nvSpPr>
        <p:spPr>
          <a:xfrm flipH="1">
            <a:off x="2194560" y="1417320"/>
            <a:ext cx="914400" cy="2560320"/>
          </a:xfrm>
          <a:prstGeom prst="line">
            <a:avLst/>
          </a:prstGeom>
          <a:noFill/>
          <a:ln w="50800">
            <a:solidFill>
              <a:schemeClr val="accent2"/>
            </a:solidFill>
            <a:prstDash val="solid"/>
          </a:ln>
        </p:spPr>
      </p:sp>
      <p:sp>
        <p:nvSpPr>
          <p:cNvPr id="6" name="Final MST edge B-D"/>
          <p:cNvSpPr/>
          <p:nvPr/>
        </p:nvSpPr>
        <p:spPr>
          <a:xfrm>
            <a:off x="3108960" y="1417320"/>
            <a:ext cx="1645920" cy="2560320"/>
          </a:xfrm>
          <a:prstGeom prst="line">
            <a:avLst/>
          </a:prstGeom>
          <a:noFill/>
          <a:ln w="50800">
            <a:solidFill>
              <a:schemeClr val="accent2"/>
            </a:solidFill>
            <a:prstDash val="solid"/>
          </a:ln>
        </p:spPr>
      </p:sp>
      <p:sp>
        <p:nvSpPr>
          <p:cNvPr id="7" name="Final MST edge C-E"/>
          <p:cNvSpPr/>
          <p:nvPr/>
        </p:nvSpPr>
        <p:spPr>
          <a:xfrm flipV="1">
            <a:off x="2194560" y="2880360"/>
            <a:ext cx="1188720" cy="1097280"/>
          </a:xfrm>
          <a:prstGeom prst="line">
            <a:avLst/>
          </a:prstGeom>
          <a:noFill/>
          <a:ln w="50800">
            <a:solidFill>
              <a:schemeClr val="accent2"/>
            </a:solidFill>
            <a:prstDash val="solid"/>
          </a:ln>
        </p:spPr>
      </p:sp>
      <p:sp>
        <p:nvSpPr>
          <p:cNvPr id="8" name="Final MST weight A-B"/>
          <p:cNvSpPr txBox="1"/>
          <p:nvPr/>
        </p:nvSpPr>
        <p:spPr>
          <a:xfrm>
            <a:off x="1773936" y="193852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accent2"/>
                </a:solidFill>
              </a:rPr>
              <a:t>1</a:t>
            </a:r>
            <a:endParaRPr lang="en-US" sz="1400" dirty="0"/>
          </a:p>
        </p:txBody>
      </p:sp>
      <p:sp>
        <p:nvSpPr>
          <p:cNvPr id="9" name="Final MST weight B-C"/>
          <p:cNvSpPr txBox="1"/>
          <p:nvPr/>
        </p:nvSpPr>
        <p:spPr>
          <a:xfrm>
            <a:off x="2505456" y="257860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accent2"/>
                </a:solidFill>
              </a:rPr>
              <a:t>2</a:t>
            </a:r>
            <a:endParaRPr lang="en-US" sz="1400" dirty="0"/>
          </a:p>
        </p:txBody>
      </p:sp>
      <p:sp>
        <p:nvSpPr>
          <p:cNvPr id="10" name="Final MST weight B-D"/>
          <p:cNvSpPr txBox="1"/>
          <p:nvPr/>
        </p:nvSpPr>
        <p:spPr>
          <a:xfrm>
            <a:off x="3785616" y="257860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accent2"/>
                </a:solidFill>
              </a:rPr>
              <a:t>4</a:t>
            </a:r>
            <a:endParaRPr lang="en-US" sz="1400" dirty="0"/>
          </a:p>
        </p:txBody>
      </p:sp>
      <p:sp>
        <p:nvSpPr>
          <p:cNvPr id="11" name="Final MST weight C-E"/>
          <p:cNvSpPr txBox="1"/>
          <p:nvPr/>
        </p:nvSpPr>
        <p:spPr>
          <a:xfrm>
            <a:off x="2642616" y="3310128"/>
            <a:ext cx="292608" cy="237744"/>
          </a:xfrm>
          <a:prstGeom prst="rect">
            <a:avLst/>
          </a:prstGeom>
          <a:solidFill>
            <a:schemeClr val="bg1"/>
          </a:solidFill>
          <a:ln/>
        </p:spPr>
        <p:txBody>
          <a:bodyPr wrap="square" lIns="0" tIns="0" rIns="0" bIns="0" rtlCol="0" anchor="ctr"/>
          <a:lstStyle/>
          <a:p>
            <a:pPr algn="ctr" indent="0" marL="0">
              <a:buNone/>
            </a:pPr>
            <a:r>
              <a:rPr lang="en-US" sz="1400" b="1" dirty="0">
                <a:solidFill>
                  <a:schemeClr val="accent2"/>
                </a:solidFill>
              </a:rPr>
              <a:t>6</a:t>
            </a:r>
            <a:endParaRPr lang="en-US" sz="1400" dirty="0"/>
          </a:p>
        </p:txBody>
      </p:sp>
      <p:sp>
        <p:nvSpPr>
          <p:cNvPr id="12" name="Final MST vertex A"/>
          <p:cNvSpPr txBox="1"/>
          <p:nvPr/>
        </p:nvSpPr>
        <p:spPr>
          <a:xfrm>
            <a:off x="493776" y="245973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3" name="Final MST vertex B"/>
          <p:cNvSpPr txBox="1"/>
          <p:nvPr/>
        </p:nvSpPr>
        <p:spPr>
          <a:xfrm>
            <a:off x="2871216" y="117957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4" name="Final MST vertex C"/>
          <p:cNvSpPr txBox="1"/>
          <p:nvPr/>
        </p:nvSpPr>
        <p:spPr>
          <a:xfrm>
            <a:off x="1956816" y="373989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5" name="Final MST vertex D"/>
          <p:cNvSpPr txBox="1"/>
          <p:nvPr/>
        </p:nvSpPr>
        <p:spPr>
          <a:xfrm>
            <a:off x="4517136" y="373989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6" name="Final MST vertex E"/>
          <p:cNvSpPr txBox="1"/>
          <p:nvPr/>
        </p:nvSpPr>
        <p:spPr>
          <a:xfrm>
            <a:off x="3145536" y="2642616"/>
            <a:ext cx="475488" cy="47548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17" name="MST caption"/>
          <p:cNvSpPr txBox="1"/>
          <p:nvPr/>
        </p:nvSpPr>
        <p:spPr>
          <a:xfrm>
            <a:off x="457200" y="4389120"/>
            <a:ext cx="4754880" cy="274320"/>
          </a:xfrm>
          <a:prstGeom prst="rect">
            <a:avLst/>
          </a:prstGeom>
          <a:noFill/>
          <a:ln/>
        </p:spPr>
        <p:txBody>
          <a:bodyPr wrap="square" lIns="0" tIns="0" rIns="0" bIns="0" rtlCol="0" anchor="ctr"/>
          <a:lstStyle/>
          <a:p>
            <a:pPr algn="ctr" indent="0" marL="0">
              <a:buNone/>
            </a:pPr>
            <a:r>
              <a:rPr lang="en-US" sz="1300" dirty="0">
                <a:solidFill>
                  <a:schemeClr val="accent4"/>
                </a:solidFill>
              </a:rPr>
              <a:t>Green edges form the Minimum Spanning Tree</a:t>
            </a:r>
            <a:endParaRPr lang="en-US" sz="1300" dirty="0"/>
          </a:p>
        </p:txBody>
      </p:sp>
      <p:sp>
        <p:nvSpPr>
          <p:cNvPr id="18" name="Total weight card"/>
          <p:cNvSpPr txBox="1"/>
          <p:nvPr/>
        </p:nvSpPr>
        <p:spPr>
          <a:xfrm>
            <a:off x="5669280" y="1188720"/>
            <a:ext cx="3017520" cy="1737360"/>
          </a:xfrm>
          <a:prstGeom prst="roundRect">
            <a:avLst>
              <a:gd name="adj" fmla="val 4211"/>
            </a:avLst>
          </a:prstGeom>
          <a:solidFill>
            <a:schemeClr val="accent6"/>
          </a:solidFill>
          <a:ln w="12700">
            <a:solidFill>
              <a:schemeClr val="accent2"/>
            </a:solidFill>
          </a:ln>
        </p:spPr>
        <p:txBody>
          <a:bodyPr wrap="square" lIns="73152" tIns="73152" rIns="73152" bIns="73152" rtlCol="0" anchor="ctr"/>
          <a:lstStyle/>
          <a:p>
            <a:pPr algn="ctr" indent="0" marL="0">
              <a:buNone/>
            </a:pPr>
            <a:r>
              <a:rPr lang="en-US" sz="1400" dirty="0">
                <a:solidFill>
                  <a:schemeClr val="accent4"/>
                </a:solidFill>
              </a:rPr>
              <a:t>Total weight</a:t>
            </a:r>
            <a:endParaRPr lang="en-US" sz="1400" dirty="0"/>
          </a:p>
          <a:p>
            <a:pPr algn="ctr" indent="0" marL="0">
              <a:buNone/>
            </a:pPr>
            <a:r>
              <a:rPr lang="en-US" sz="5400" b="1" dirty="0">
                <a:solidFill>
                  <a:schemeClr val="accent2"/>
                </a:solidFill>
              </a:rPr>
              <a:t>13</a:t>
            </a:r>
            <a:endParaRPr lang="en-US" sz="1400" dirty="0"/>
          </a:p>
          <a:p>
            <a:pPr algn="ctr" indent="0" marL="0">
              <a:buNone/>
            </a:pPr>
            <a:r>
              <a:rPr lang="en-US" sz="1600" b="1" dirty="0">
                <a:solidFill>
                  <a:schemeClr val="tx2"/>
                </a:solidFill>
              </a:rPr>
              <a:t>1 + 2 + 4 + 6</a:t>
            </a:r>
            <a:endParaRPr lang="en-US" sz="1400" dirty="0"/>
          </a:p>
        </p:txBody>
      </p:sp>
      <p:sp>
        <p:nvSpPr>
          <p:cNvPr id="19" name="MST facts"/>
          <p:cNvSpPr txBox="1"/>
          <p:nvPr/>
        </p:nvSpPr>
        <p:spPr>
          <a:xfrm>
            <a:off x="5669280" y="3108960"/>
            <a:ext cx="301752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Edges: A–B, B–C, B–D, C–E</a:t>
            </a:r>
            <a:endParaRPr lang="en-US" sz="1400" dirty="0"/>
          </a:p>
          <a:p>
            <a:pPr marL="342900" indent="-342900">
              <a:spcAft>
                <a:spcPts val="600"/>
              </a:spcAft>
              <a:buSzPct val="100000"/>
              <a:buChar char="•"/>
            </a:pPr>
            <a:r>
              <a:rPr lang="en-US" sz="1400" dirty="0">
                <a:solidFill>
                  <a:schemeClr val="tx1"/>
                </a:solidFill>
              </a:rPr>
              <a:t>5 vertices, 4 edges (V − 1)</a:t>
            </a:r>
            <a:endParaRPr lang="en-US" sz="1400" dirty="0"/>
          </a:p>
          <a:p>
            <a:pPr marL="342900" indent="-342900">
              <a:spcAft>
                <a:spcPts val="600"/>
              </a:spcAft>
              <a:buSzPct val="100000"/>
              <a:buChar char="•"/>
            </a:pPr>
            <a:r>
              <a:rPr lang="en-US" sz="1400" dirty="0">
                <a:solidFill>
                  <a:schemeClr val="tx1"/>
                </a:solidFill>
              </a:rPr>
              <a:t>All vertices connected</a:t>
            </a:r>
            <a:endParaRPr lang="en-US" sz="1400" dirty="0"/>
          </a:p>
          <a:p>
            <a:pPr marL="342900" indent="-342900">
              <a:spcAft>
                <a:spcPts val="600"/>
              </a:spcAft>
              <a:buSzPct val="100000"/>
              <a:buChar char="•"/>
            </a:pPr>
            <a:r>
              <a:rPr lang="en-US" sz="1400" dirty="0">
                <a:solidFill>
                  <a:schemeClr val="tx1"/>
                </a:solidFill>
              </a:rPr>
              <a:t>No cycle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Pseudocode and Union-Find</a:t>
            </a:r>
            <a:endParaRPr lang="en-US" sz="3000" dirty="0"/>
          </a:p>
        </p:txBody>
      </p:sp>
      <p:sp>
        <p:nvSpPr>
          <p:cNvPr id="4" name="Pseudocode"/>
          <p:cNvSpPr txBox="1"/>
          <p:nvPr/>
        </p:nvSpPr>
        <p:spPr>
          <a:xfrm>
            <a:off x="457200" y="1143000"/>
            <a:ext cx="4846320" cy="2331720"/>
          </a:xfrm>
          <a:prstGeom prst="rect">
            <a:avLst/>
          </a:prstGeom>
          <a:solidFill>
            <a:schemeClr val="bg2"/>
          </a:solidFill>
          <a:ln w="12700">
            <a:solidFill>
              <a:schemeClr val="accent5"/>
            </a:solidFill>
          </a:ln>
        </p:spPr>
        <p:txBody>
          <a:bodyPr wrap="square" lIns="203200" tIns="203200" rIns="203200" bIns="20320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KRUSKAL(G):</a:t>
            </a:r>
            <a:endParaRPr lang="en-US" sz="1300" dirty="0"/>
          </a:p>
          <a:p>
            <a:pPr indent="0" marL="0">
              <a:buNone/>
            </a:pPr>
            <a:r>
              <a:rPr lang="en-US" sz="1300" dirty="0">
                <a:solidFill>
                  <a:schemeClr val="tx2"/>
                </a:solidFill>
                <a:latin typeface="Courier New" pitchFamily="34" charset="0"/>
                <a:ea typeface="Courier New" pitchFamily="34" charset="-122"/>
                <a:cs typeface="Courier New" pitchFamily="34" charset="-120"/>
              </a:rPr>
              <a:t>  MST = empty list</a:t>
            </a:r>
            <a:endParaRPr lang="en-US" sz="1300" dirty="0"/>
          </a:p>
          <a:p>
            <a:pPr indent="0" marL="0">
              <a:buNone/>
            </a:pPr>
            <a:r>
              <a:rPr lang="en-US" sz="1300" dirty="0">
                <a:solidFill>
                  <a:schemeClr val="tx2"/>
                </a:solidFill>
                <a:latin typeface="Courier New" pitchFamily="34" charset="0"/>
                <a:ea typeface="Courier New" pitchFamily="34" charset="-122"/>
                <a:cs typeface="Courier New" pitchFamily="34" charset="-120"/>
              </a:rPr>
              <a:t>  for each vertex v: MAKE-SET(v)</a:t>
            </a:r>
            <a:endParaRPr lang="en-US" sz="1300" dirty="0"/>
          </a:p>
          <a:p>
            <a:pPr indent="0" marL="0">
              <a:buNone/>
            </a:pPr>
            <a:r>
              <a:rPr lang="en-US" sz="1300" dirty="0">
                <a:solidFill>
                  <a:schemeClr val="tx2"/>
                </a:solidFill>
                <a:latin typeface="Courier New" pitchFamily="34" charset="0"/>
                <a:ea typeface="Courier New" pitchFamily="34" charset="-122"/>
                <a:cs typeface="Courier New" pitchFamily="34" charset="-120"/>
              </a:rPr>
              <a:t>  sort edges by weight (ascending)</a:t>
            </a:r>
            <a:endParaRPr lang="en-US" sz="1300" dirty="0"/>
          </a:p>
          <a:p>
            <a:pPr indent="0" marL="0">
              <a:buNone/>
            </a:pPr>
            <a:r>
              <a:rPr lang="en-US" sz="1300" dirty="0">
                <a:solidFill>
                  <a:schemeClr val="tx2"/>
                </a:solidFill>
                <a:latin typeface="Courier New" pitchFamily="34" charset="0"/>
                <a:ea typeface="Courier New" pitchFamily="34" charset="-122"/>
                <a:cs typeface="Courier New" pitchFamily="34" charset="-120"/>
              </a:rPr>
              <a:t>  for each edge (u, v, w):</a:t>
            </a:r>
            <a:endParaRPr lang="en-US" sz="1300" dirty="0"/>
          </a:p>
          <a:p>
            <a:pPr indent="0" marL="0">
              <a:buNone/>
            </a:pPr>
            <a:r>
              <a:rPr lang="en-US" sz="1300" dirty="0">
                <a:solidFill>
                  <a:schemeClr val="tx2"/>
                </a:solidFill>
                <a:latin typeface="Courier New" pitchFamily="34" charset="0"/>
                <a:ea typeface="Courier New" pitchFamily="34" charset="-122"/>
                <a:cs typeface="Courier New" pitchFamily="34" charset="-120"/>
              </a:rPr>
              <a:t>    if FIND(u) != FIND(v):</a:t>
            </a:r>
            <a:endParaRPr lang="en-US" sz="1300" dirty="0"/>
          </a:p>
          <a:p>
            <a:pPr indent="0" marL="0">
              <a:buNone/>
            </a:pPr>
            <a:r>
              <a:rPr lang="en-US" sz="1300" dirty="0">
                <a:solidFill>
                  <a:schemeClr val="tx2"/>
                </a:solidFill>
                <a:latin typeface="Courier New" pitchFamily="34" charset="0"/>
                <a:ea typeface="Courier New" pitchFamily="34" charset="-122"/>
                <a:cs typeface="Courier New" pitchFamily="34" charset="-120"/>
              </a:rPr>
              <a:t>      add (u, v) to MST</a:t>
            </a:r>
            <a:endParaRPr lang="en-US" sz="1300" dirty="0"/>
          </a:p>
          <a:p>
            <a:pPr indent="0" marL="0">
              <a:buNone/>
            </a:pPr>
            <a:r>
              <a:rPr lang="en-US" sz="1300" dirty="0">
                <a:solidFill>
                  <a:schemeClr val="tx2"/>
                </a:solidFill>
                <a:latin typeface="Courier New" pitchFamily="34" charset="0"/>
                <a:ea typeface="Courier New" pitchFamily="34" charset="-122"/>
                <a:cs typeface="Courier New" pitchFamily="34" charset="-120"/>
              </a:rPr>
              <a:t>      UNION(u, v)</a:t>
            </a:r>
            <a:endParaRPr lang="en-US" sz="1300" dirty="0"/>
          </a:p>
          <a:p>
            <a:pPr indent="0" marL="0">
              <a:buNone/>
            </a:pPr>
            <a:r>
              <a:rPr lang="en-US" sz="1300" dirty="0">
                <a:solidFill>
                  <a:schemeClr val="tx2"/>
                </a:solidFill>
                <a:latin typeface="Courier New" pitchFamily="34" charset="0"/>
                <a:ea typeface="Courier New" pitchFamily="34" charset="-122"/>
                <a:cs typeface="Courier New" pitchFamily="34" charset="-120"/>
              </a:rPr>
              <a:t>  return MST</a:t>
            </a:r>
            <a:endParaRPr lang="en-US" sz="1300" dirty="0"/>
          </a:p>
        </p:txBody>
      </p:sp>
      <p:sp>
        <p:nvSpPr>
          <p:cNvPr id="5" name="Text 2"/>
          <p:cNvSpPr txBox="1"/>
          <p:nvPr/>
        </p:nvSpPr>
        <p:spPr>
          <a:xfrm>
            <a:off x="5577840" y="1143000"/>
            <a:ext cx="3108960" cy="320040"/>
          </a:xfrm>
          <a:prstGeom prst="rect">
            <a:avLst/>
          </a:prstGeom>
          <a:noFill/>
          <a:ln/>
        </p:spPr>
        <p:txBody>
          <a:bodyPr wrap="square" lIns="0" tIns="0" rIns="0" bIns="0" rtlCol="0" anchor="ctr"/>
          <a:lstStyle/>
          <a:p>
            <a:pPr indent="0" marL="0">
              <a:buNone/>
            </a:pPr>
            <a:r>
              <a:rPr lang="en-US" sz="1600" b="1" dirty="0">
                <a:solidFill>
                  <a:schemeClr val="tx2"/>
                </a:solidFill>
              </a:rPr>
              <a:t>Union-Find (DSU)</a:t>
            </a:r>
            <a:endParaRPr lang="en-US" sz="1600" dirty="0"/>
          </a:p>
        </p:txBody>
      </p:sp>
      <p:sp>
        <p:nvSpPr>
          <p:cNvPr id="6" name="Union-Find bullets"/>
          <p:cNvSpPr txBox="1"/>
          <p:nvPr/>
        </p:nvSpPr>
        <p:spPr>
          <a:xfrm>
            <a:off x="5577840" y="1508760"/>
            <a:ext cx="3108960"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FIND(x): leader of x’s set</a:t>
            </a:r>
            <a:endParaRPr lang="en-US" sz="1400" dirty="0"/>
          </a:p>
          <a:p>
            <a:pPr marL="342900" indent="-342900">
              <a:spcAft>
                <a:spcPts val="500"/>
              </a:spcAft>
              <a:buSzPct val="100000"/>
              <a:buChar char="•"/>
            </a:pPr>
            <a:r>
              <a:rPr lang="en-US" sz="1400" dirty="0">
                <a:solidFill>
                  <a:schemeClr val="tx1"/>
                </a:solidFill>
              </a:rPr>
              <a:t>UNION(x, y): merge two sets</a:t>
            </a:r>
            <a:endParaRPr lang="en-US" sz="1400" dirty="0"/>
          </a:p>
          <a:p>
            <a:pPr marL="342900" indent="-342900">
              <a:spcAft>
                <a:spcPts val="500"/>
              </a:spcAft>
              <a:buSzPct val="100000"/>
              <a:buChar char="•"/>
            </a:pPr>
            <a:r>
              <a:rPr lang="en-US" sz="1400" dirty="0">
                <a:solidFill>
                  <a:schemeClr val="tx1"/>
                </a:solidFill>
              </a:rPr>
              <a:t>Same leader = cycle</a:t>
            </a:r>
            <a:endParaRPr lang="en-US" sz="1400" dirty="0"/>
          </a:p>
          <a:p>
            <a:pPr marL="342900" indent="-342900">
              <a:spcAft>
                <a:spcPts val="500"/>
              </a:spcAft>
              <a:buSzPct val="100000"/>
              <a:buChar char="•"/>
            </a:pPr>
            <a:r>
              <a:rPr lang="en-US" sz="1400" dirty="0">
                <a:solidFill>
                  <a:schemeClr val="tx1"/>
                </a:solidFill>
              </a:rPr>
              <a:t>Path compression + union by rank: almost O(1)</a:t>
            </a:r>
            <a:endParaRPr lang="en-US" sz="1400" dirty="0"/>
          </a:p>
        </p:txBody>
      </p:sp>
      <p:sp>
        <p:nvSpPr>
          <p:cNvPr id="7" name="Sets caption"/>
          <p:cNvSpPr txBox="1"/>
          <p:nvPr/>
        </p:nvSpPr>
        <p:spPr>
          <a:xfrm>
            <a:off x="457200" y="3611880"/>
            <a:ext cx="4572000" cy="228600"/>
          </a:xfrm>
          <a:prstGeom prst="rect">
            <a:avLst/>
          </a:prstGeom>
          <a:noFill/>
          <a:ln/>
        </p:spPr>
        <p:txBody>
          <a:bodyPr wrap="square" lIns="0" tIns="0" rIns="0" bIns="0" rtlCol="0" anchor="ctr"/>
          <a:lstStyle/>
          <a:p>
            <a:pPr indent="0" marL="0">
              <a:buNone/>
            </a:pPr>
            <a:r>
              <a:rPr lang="en-US" sz="1200" b="1" dirty="0">
                <a:solidFill>
                  <a:schemeClr val="tx2"/>
                </a:solidFill>
              </a:rPr>
              <a:t>Sets after each selected edge</a:t>
            </a:r>
            <a:endParaRPr lang="en-US" sz="1200" dirty="0"/>
          </a:p>
        </p:txBody>
      </p:sp>
      <p:sp>
        <p:nvSpPr>
          <p:cNvPr id="8" name="Sets state 0"/>
          <p:cNvSpPr txBox="1"/>
          <p:nvPr/>
        </p:nvSpPr>
        <p:spPr>
          <a:xfrm>
            <a:off x="457200" y="3886200"/>
            <a:ext cx="1554480" cy="685800"/>
          </a:xfrm>
          <a:prstGeom prst="roundRect">
            <a:avLst>
              <a:gd name="adj" fmla="val 10667"/>
            </a:avLst>
          </a:prstGeom>
          <a:solidFill>
            <a:schemeClr val="bg2"/>
          </a:solidFill>
          <a:ln w="12700">
            <a:solidFill>
              <a:schemeClr val="accent5"/>
            </a:solidFill>
          </a:ln>
        </p:spPr>
        <p:txBody>
          <a:bodyPr wrap="square" lIns="36576" tIns="36576" rIns="36576" bIns="36576" rtlCol="0" anchor="ctr"/>
          <a:lstStyle/>
          <a:p>
            <a:pPr algn="ctr" indent="0" marL="0">
              <a:buNone/>
            </a:pPr>
            <a:r>
              <a:rPr lang="en-US" sz="1100" dirty="0">
                <a:solidFill>
                  <a:schemeClr val="accent4"/>
                </a:solidFill>
              </a:rPr>
              <a:t>Start</a:t>
            </a:r>
            <a:endParaRPr lang="en-US" sz="1400" dirty="0"/>
          </a:p>
          <a:p>
            <a:pPr algn="ctr" indent="0" marL="0">
              <a:buNone/>
            </a:pPr>
            <a:r>
              <a:rPr lang="en-US" sz="1200" b="1" dirty="0">
                <a:solidFill>
                  <a:schemeClr val="tx2"/>
                </a:solidFill>
              </a:rPr>
              <a:t>{A} {B} {C} {D} {E}</a:t>
            </a:r>
            <a:endParaRPr lang="en-US" sz="1400" dirty="0"/>
          </a:p>
        </p:txBody>
      </p:sp>
      <p:sp>
        <p:nvSpPr>
          <p:cNvPr id="9" name="Sets state 1"/>
          <p:cNvSpPr txBox="1"/>
          <p:nvPr/>
        </p:nvSpPr>
        <p:spPr>
          <a:xfrm>
            <a:off x="2125980" y="3886200"/>
            <a:ext cx="1554480" cy="685800"/>
          </a:xfrm>
          <a:prstGeom prst="roundRect">
            <a:avLst>
              <a:gd name="adj" fmla="val 10667"/>
            </a:avLst>
          </a:prstGeom>
          <a:solidFill>
            <a:schemeClr val="bg2"/>
          </a:solidFill>
          <a:ln w="12700">
            <a:solidFill>
              <a:schemeClr val="accent5"/>
            </a:solidFill>
          </a:ln>
        </p:spPr>
        <p:txBody>
          <a:bodyPr wrap="square" lIns="36576" tIns="36576" rIns="36576" bIns="36576" rtlCol="0" anchor="ctr"/>
          <a:lstStyle/>
          <a:p>
            <a:pPr algn="ctr" indent="0" marL="0">
              <a:buNone/>
            </a:pPr>
            <a:r>
              <a:rPr lang="en-US" sz="1100" dirty="0">
                <a:solidFill>
                  <a:schemeClr val="accent4"/>
                </a:solidFill>
              </a:rPr>
              <a:t>After A–B</a:t>
            </a:r>
            <a:endParaRPr lang="en-US" sz="1400" dirty="0"/>
          </a:p>
          <a:p>
            <a:pPr algn="ctr" indent="0" marL="0">
              <a:buNone/>
            </a:pPr>
            <a:r>
              <a:rPr lang="en-US" sz="1200" b="1" dirty="0">
                <a:solidFill>
                  <a:schemeClr val="tx2"/>
                </a:solidFill>
              </a:rPr>
              <a:t>{A,B} {C} {D} {E}</a:t>
            </a:r>
            <a:endParaRPr lang="en-US" sz="1400" dirty="0"/>
          </a:p>
        </p:txBody>
      </p:sp>
      <p:sp>
        <p:nvSpPr>
          <p:cNvPr id="10" name="Sets state 2"/>
          <p:cNvSpPr txBox="1"/>
          <p:nvPr/>
        </p:nvSpPr>
        <p:spPr>
          <a:xfrm>
            <a:off x="3794760" y="3886200"/>
            <a:ext cx="1554480" cy="685800"/>
          </a:xfrm>
          <a:prstGeom prst="roundRect">
            <a:avLst>
              <a:gd name="adj" fmla="val 10667"/>
            </a:avLst>
          </a:prstGeom>
          <a:solidFill>
            <a:schemeClr val="bg2"/>
          </a:solidFill>
          <a:ln w="12700">
            <a:solidFill>
              <a:schemeClr val="accent5"/>
            </a:solidFill>
          </a:ln>
        </p:spPr>
        <p:txBody>
          <a:bodyPr wrap="square" lIns="36576" tIns="36576" rIns="36576" bIns="36576" rtlCol="0" anchor="ctr"/>
          <a:lstStyle/>
          <a:p>
            <a:pPr algn="ctr" indent="0" marL="0">
              <a:buNone/>
            </a:pPr>
            <a:r>
              <a:rPr lang="en-US" sz="1100" dirty="0">
                <a:solidFill>
                  <a:schemeClr val="accent4"/>
                </a:solidFill>
              </a:rPr>
              <a:t>After B–C</a:t>
            </a:r>
            <a:endParaRPr lang="en-US" sz="1400" dirty="0"/>
          </a:p>
          <a:p>
            <a:pPr algn="ctr" indent="0" marL="0">
              <a:buNone/>
            </a:pPr>
            <a:r>
              <a:rPr lang="en-US" sz="1200" b="1" dirty="0">
                <a:solidFill>
                  <a:schemeClr val="tx2"/>
                </a:solidFill>
              </a:rPr>
              <a:t>{A,B,C} {D} {E}</a:t>
            </a:r>
            <a:endParaRPr lang="en-US" sz="1400" dirty="0"/>
          </a:p>
        </p:txBody>
      </p:sp>
      <p:sp>
        <p:nvSpPr>
          <p:cNvPr id="11" name="Sets state 3"/>
          <p:cNvSpPr txBox="1"/>
          <p:nvPr/>
        </p:nvSpPr>
        <p:spPr>
          <a:xfrm>
            <a:off x="5463540" y="3886200"/>
            <a:ext cx="1554480" cy="685800"/>
          </a:xfrm>
          <a:prstGeom prst="roundRect">
            <a:avLst>
              <a:gd name="adj" fmla="val 10667"/>
            </a:avLst>
          </a:prstGeom>
          <a:solidFill>
            <a:schemeClr val="bg2"/>
          </a:solidFill>
          <a:ln w="12700">
            <a:solidFill>
              <a:schemeClr val="accent5"/>
            </a:solidFill>
          </a:ln>
        </p:spPr>
        <p:txBody>
          <a:bodyPr wrap="square" lIns="36576" tIns="36576" rIns="36576" bIns="36576" rtlCol="0" anchor="ctr"/>
          <a:lstStyle/>
          <a:p>
            <a:pPr algn="ctr" indent="0" marL="0">
              <a:buNone/>
            </a:pPr>
            <a:r>
              <a:rPr lang="en-US" sz="1100" dirty="0">
                <a:solidFill>
                  <a:schemeClr val="accent4"/>
                </a:solidFill>
              </a:rPr>
              <a:t>After B–D</a:t>
            </a:r>
            <a:endParaRPr lang="en-US" sz="1400" dirty="0"/>
          </a:p>
          <a:p>
            <a:pPr algn="ctr" indent="0" marL="0">
              <a:buNone/>
            </a:pPr>
            <a:r>
              <a:rPr lang="en-US" sz="1200" b="1" dirty="0">
                <a:solidFill>
                  <a:schemeClr val="tx2"/>
                </a:solidFill>
              </a:rPr>
              <a:t>{A,B,C,D} {E}</a:t>
            </a:r>
            <a:endParaRPr lang="en-US" sz="1400" dirty="0"/>
          </a:p>
        </p:txBody>
      </p:sp>
      <p:sp>
        <p:nvSpPr>
          <p:cNvPr id="12" name="Sets state 4"/>
          <p:cNvSpPr txBox="1"/>
          <p:nvPr/>
        </p:nvSpPr>
        <p:spPr>
          <a:xfrm>
            <a:off x="7132320" y="3886200"/>
            <a:ext cx="1554480" cy="685800"/>
          </a:xfrm>
          <a:prstGeom prst="roundRect">
            <a:avLst>
              <a:gd name="adj" fmla="val 10667"/>
            </a:avLst>
          </a:prstGeom>
          <a:solidFill>
            <a:schemeClr val="accent6"/>
          </a:solidFill>
          <a:ln w="12700">
            <a:solidFill>
              <a:schemeClr val="accent2"/>
            </a:solidFill>
          </a:ln>
        </p:spPr>
        <p:txBody>
          <a:bodyPr wrap="square" lIns="36576" tIns="36576" rIns="36576" bIns="36576" rtlCol="0" anchor="ctr"/>
          <a:lstStyle/>
          <a:p>
            <a:pPr algn="ctr" indent="0" marL="0">
              <a:buNone/>
            </a:pPr>
            <a:r>
              <a:rPr lang="en-US" sz="1100" dirty="0">
                <a:solidFill>
                  <a:schemeClr val="accent2"/>
                </a:solidFill>
              </a:rPr>
              <a:t>After C–E</a:t>
            </a:r>
            <a:endParaRPr lang="en-US" sz="1400" dirty="0"/>
          </a:p>
          <a:p>
            <a:pPr algn="ctr" indent="0" marL="0">
              <a:buNone/>
            </a:pPr>
            <a:r>
              <a:rPr lang="en-US" sz="1200" b="1" dirty="0">
                <a:solidFill>
                  <a:schemeClr val="tx2"/>
                </a:solidFill>
              </a:rPr>
              <a:t>{A,B,C,D,E}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Time and Space Complexity</a:t>
            </a:r>
            <a:endParaRPr lang="en-US" sz="3000" dirty="0"/>
          </a:p>
        </p:txBody>
      </p:sp>
      <p:graphicFrame>
        <p:nvGraphicFramePr>
          <p:cNvPr id="11" name="Complexity table"/>
          <p:cNvGraphicFramePr>
            <a:graphicFrameLocks noGrp="1"/>
          </p:cNvGraphicFramePr>
          <p:nvPr>
            <p:extLst>
              <p:ext uri="{D42A27DB-BD31-4B8C-83A1-F6EECF244321}">
                <p14:modId xmlns:p14="http://schemas.microsoft.com/office/powerpoint/2010/main" val="1579011935"/>
              </p:ext>
            </p:extLst>
          </p:nvPr>
        </p:nvGraphicFramePr>
        <p:xfrm>
          <a:off x="457200" y="1188720"/>
          <a:ext cx="4754880" cy="914400"/>
        </p:xfrm>
        <a:graphic>
          <a:graphicData uri="http://schemas.openxmlformats.org/drawingml/2006/table">
            <a:tbl>
              <a:tblPr/>
              <a:tblGrid>
                <a:gridCol w="2651760"/>
                <a:gridCol w="2103120"/>
              </a:tblGrid>
              <a:tr h="457200">
                <a:tc>
                  <a:txBody>
                    <a:bodyPr/>
                    <a:lstStyle/>
                    <a:p>
                      <a:pPr algn="l" indent="0" marL="0">
                        <a:buNone/>
                      </a:pPr>
                      <a:r>
                        <a:rPr lang="en-US" sz="1400" b="1" dirty="0">
                          <a:solidFill>
                            <a:schemeClr val="bg1"/>
                          </a:solidFill>
                        </a:rPr>
                        <a:t>Step</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1"/>
                    </a:solidFill>
                  </a:tcPr>
                </a:tc>
                <a:tc>
                  <a:txBody>
                    <a:bodyPr/>
                    <a:lstStyle/>
                    <a:p>
                      <a:pPr algn="l" indent="0" marL="0">
                        <a:buNone/>
                      </a:pPr>
                      <a:r>
                        <a:rPr lang="en-US" sz="1400" b="1" dirty="0">
                          <a:solidFill>
                            <a:schemeClr val="bg1"/>
                          </a:solidFill>
                        </a:rPr>
                        <a:t>Cost</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1"/>
                    </a:solidFill>
                  </a:tcPr>
                </a:tc>
              </a:tr>
              <a:tr h="457200">
                <a:tc>
                  <a:txBody>
                    <a:bodyPr/>
                    <a:lstStyle/>
                    <a:p>
                      <a:pPr algn="l" indent="0" marL="0">
                        <a:buNone/>
                      </a:pPr>
                      <a:r>
                        <a:rPr lang="en-US" sz="1400" dirty="0">
                          <a:solidFill>
                            <a:schemeClr val="tx1"/>
                          </a:solidFill>
                        </a:rPr>
                        <a:t>Sort E edges</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2"/>
                          </a:solidFill>
                        </a:rPr>
                        <a:t>O(E log E)</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rPr>
                        <a:t>MAKE-SET for V vertices</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2"/>
                          </a:solidFill>
                        </a:rPr>
                        <a:t>O(V)</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rPr>
                        <a:t>E × FIND / UNION</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2"/>
                          </a:solidFill>
                        </a:rPr>
                        <a:t>O(E · α(V)) ≈ O(E)</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rPr>
                        <a:t>Total time</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6"/>
                    </a:solidFill>
                  </a:tcPr>
                </a:tc>
                <a:tc>
                  <a:txBody>
                    <a:bodyPr/>
                    <a:lstStyle/>
                    <a:p>
                      <a:pPr algn="l" indent="0" marL="0">
                        <a:buNone/>
                      </a:pPr>
                      <a:r>
                        <a:rPr lang="en-US" sz="1400" b="1" dirty="0">
                          <a:solidFill>
                            <a:schemeClr val="accent2"/>
                          </a:solidFill>
                        </a:rPr>
                        <a:t>O(E log E)</a:t>
                      </a:r>
                      <a:endParaRPr lang="en-US" sz="1400" dirty="0"/>
                    </a:p>
                  </a:txBody>
                  <a:tcPr marL="101600" marR="101600" marT="38100" marB="38100" anchor="ctr">
                    <a:lnL w="9525" cap="flat" cmpd="sng" algn="ctr">
                      <a:solidFill>
                        <a:srgbClr val="B8C4D9"/>
                      </a:solidFill>
                      <a:prstDash val="solid"/>
                      <a:round/>
                      <a:headEnd type="none" w="med" len="med"/>
                      <a:tailEnd type="none" w="med" len="med"/>
                    </a:lnL>
                    <a:lnR w="9525" cap="flat" cmpd="sng" algn="ctr">
                      <a:solidFill>
                        <a:srgbClr val="B8C4D9"/>
                      </a:solidFill>
                      <a:prstDash val="solid"/>
                      <a:round/>
                      <a:headEnd type="none" w="med" len="med"/>
                      <a:tailEnd type="none" w="med" len="med"/>
                    </a:lnR>
                    <a:lnT w="9525" cap="flat" cmpd="sng" algn="ctr">
                      <a:solidFill>
                        <a:srgbClr val="B8C4D9"/>
                      </a:solidFill>
                      <a:prstDash val="solid"/>
                      <a:round/>
                      <a:headEnd type="none" w="med" len="med"/>
                      <a:tailEnd type="none" w="med" len="med"/>
                    </a:lnT>
                    <a:lnB w="9525" cap="flat" cmpd="sng" algn="ctr">
                      <a:solidFill>
                        <a:srgbClr val="B8C4D9"/>
                      </a:solidFill>
                      <a:prstDash val="solid"/>
                      <a:round/>
                      <a:headEnd type="none" w="med" len="med"/>
                      <a:tailEnd type="none" w="med" len="med"/>
                    </a:lnB>
                    <a:solidFill>
                      <a:schemeClr val="accent6"/>
                    </a:solidFill>
                  </a:tcPr>
                </a:tc>
              </a:tr>
            </a:tbl>
          </a:graphicData>
        </a:graphic>
      </p:graphicFrame>
      <p:sp>
        <p:nvSpPr>
          <p:cNvPr id="5" name="Log note"/>
          <p:cNvSpPr txBox="1"/>
          <p:nvPr/>
        </p:nvSpPr>
        <p:spPr>
          <a:xfrm>
            <a:off x="457200" y="3657600"/>
            <a:ext cx="4754880" cy="777240"/>
          </a:xfrm>
          <a:prstGeom prst="roundRect">
            <a:avLst>
              <a:gd name="adj" fmla="val 9412"/>
            </a:avLst>
          </a:prstGeom>
          <a:solidFill>
            <a:schemeClr val="bg2"/>
          </a:solidFill>
          <a:ln w="12700">
            <a:solidFill>
              <a:schemeClr val="accent5"/>
            </a:solidFill>
          </a:ln>
        </p:spPr>
        <p:txBody>
          <a:bodyPr wrap="square" lIns="137160" tIns="137160" rIns="137160" bIns="137160" rtlCol="0" anchor="ctr"/>
          <a:lstStyle/>
          <a:p>
            <a:pPr algn="l" indent="0" marL="0">
              <a:buNone/>
            </a:pPr>
            <a:r>
              <a:rPr lang="en-US" sz="1400" dirty="0">
                <a:solidFill>
                  <a:schemeClr val="tx1"/>
                </a:solidFill>
              </a:rPr>
              <a:t>Since E ≤ V², log E ≤ 2 log V. So O(E log E) = O(E log V).</a:t>
            </a:r>
            <a:endParaRPr lang="en-US" sz="1400" dirty="0"/>
          </a:p>
        </p:txBody>
      </p:sp>
      <p:sp>
        <p:nvSpPr>
          <p:cNvPr id="6" name="Time card"/>
          <p:cNvSpPr txBox="1"/>
          <p:nvPr/>
        </p:nvSpPr>
        <p:spPr>
          <a:xfrm>
            <a:off x="5486400" y="1188720"/>
            <a:ext cx="3200400" cy="1234440"/>
          </a:xfrm>
          <a:prstGeom prst="roundRect">
            <a:avLst>
              <a:gd name="adj" fmla="val 5926"/>
            </a:avLst>
          </a:prstGeom>
          <a:solidFill>
            <a:schemeClr val="accent6"/>
          </a:solidFill>
          <a:ln w="12700">
            <a:solidFill>
              <a:schemeClr val="accent2"/>
            </a:solidFill>
          </a:ln>
        </p:spPr>
        <p:txBody>
          <a:bodyPr wrap="square" lIns="73152" tIns="73152" rIns="73152" bIns="73152" rtlCol="0" anchor="ctr"/>
          <a:lstStyle/>
          <a:p>
            <a:pPr algn="ctr" indent="0" marL="0">
              <a:buNone/>
            </a:pPr>
            <a:r>
              <a:rPr lang="en-US" sz="1400" dirty="0">
                <a:solidFill>
                  <a:schemeClr val="accent4"/>
                </a:solidFill>
              </a:rPr>
              <a:t>Time</a:t>
            </a:r>
            <a:endParaRPr lang="en-US" sz="1400" dirty="0"/>
          </a:p>
          <a:p>
            <a:pPr algn="ctr" indent="0" marL="0">
              <a:buNone/>
            </a:pPr>
            <a:r>
              <a:rPr lang="en-US" sz="2800" b="1" dirty="0">
                <a:solidFill>
                  <a:schemeClr val="accent2"/>
                </a:solidFill>
              </a:rPr>
              <a:t>O(E log E)</a:t>
            </a:r>
            <a:endParaRPr lang="en-US" sz="1400" dirty="0"/>
          </a:p>
          <a:p>
            <a:pPr algn="ctr" indent="0" marL="0">
              <a:buNone/>
            </a:pPr>
            <a:r>
              <a:rPr lang="en-US" sz="1300" dirty="0">
                <a:solidFill>
                  <a:schemeClr val="tx1"/>
                </a:solidFill>
              </a:rPr>
              <a:t>with efficient Union-Find</a:t>
            </a:r>
            <a:endParaRPr lang="en-US" sz="1400" dirty="0"/>
          </a:p>
        </p:txBody>
      </p:sp>
      <p:sp>
        <p:nvSpPr>
          <p:cNvPr id="7" name="Space card"/>
          <p:cNvSpPr txBox="1"/>
          <p:nvPr/>
        </p:nvSpPr>
        <p:spPr>
          <a:xfrm>
            <a:off x="5486400" y="2606040"/>
            <a:ext cx="3200400" cy="1965960"/>
          </a:xfrm>
          <a:prstGeom prst="roundRect">
            <a:avLst>
              <a:gd name="adj" fmla="val 3721"/>
            </a:avLst>
          </a:prstGeom>
          <a:solidFill>
            <a:schemeClr val="bg2"/>
          </a:solidFill>
          <a:ln w="12700">
            <a:solidFill>
              <a:schemeClr val="accent5"/>
            </a:solidFill>
          </a:ln>
        </p:spPr>
        <p:txBody>
          <a:bodyPr wrap="square" lIns="137160" tIns="137160" rIns="137160" bIns="137160" rtlCol="0" anchor="t"/>
          <a:lstStyle/>
          <a:p>
            <a:pPr algn="l" indent="0" marL="0">
              <a:buNone/>
            </a:pPr>
            <a:r>
              <a:rPr lang="en-US" sz="1400" dirty="0">
                <a:solidFill>
                  <a:schemeClr val="accent4"/>
                </a:solidFill>
              </a:rPr>
              <a:t>Auxiliary space</a:t>
            </a:r>
            <a:endParaRPr lang="en-US" sz="1400" dirty="0"/>
          </a:p>
          <a:p>
            <a:pPr algn="l" indent="0" marL="0">
              <a:buNone/>
            </a:pPr>
            <a:r>
              <a:rPr lang="en-US" sz="2800" b="1" dirty="0">
                <a:solidFill>
                  <a:schemeClr val="tx2"/>
                </a:solidFill>
              </a:rPr>
              <a:t>O(V + E)</a:t>
            </a:r>
            <a:endParaRPr lang="en-US" sz="1400" dirty="0"/>
          </a:p>
          <a:p>
            <a:pPr algn="l" indent="0" marL="0">
              <a:buNone/>
            </a:pPr>
            <a:r>
              <a:rPr lang="en-US" sz="1300" dirty="0">
                <a:solidFill>
                  <a:schemeClr val="tx1"/>
                </a:solidFill>
              </a:rPr>
              <a:t>Parent and rank arrays: O(V)</a:t>
            </a:r>
            <a:endParaRPr lang="en-US" sz="1400" dirty="0"/>
          </a:p>
          <a:p>
            <a:pPr algn="l" indent="0" marL="0">
              <a:buNone/>
            </a:pPr>
            <a:r>
              <a:rPr lang="en-US" sz="1300" dirty="0">
                <a:solidFill>
                  <a:schemeClr val="tx1"/>
                </a:solidFill>
              </a:rPr>
              <a:t>MST edge list: O(V)</a:t>
            </a:r>
            <a:endParaRPr lang="en-US" sz="1400" dirty="0"/>
          </a:p>
          <a:p>
            <a:pPr algn="l" indent="0" marL="0">
              <a:buNone/>
            </a:pPr>
            <a:r>
              <a:rPr lang="en-US" sz="1300" dirty="0">
                <a:solidFill>
                  <a:schemeClr val="tx1"/>
                </a:solidFill>
              </a:rPr>
              <a:t>Sorted copy of edges: O(E)</a:t>
            </a:r>
            <a:endParaRPr lang="en-US" sz="1400" dirty="0"/>
          </a:p>
          <a:p>
            <a:pPr algn="l" indent="0" marL="0">
              <a:buNone/>
            </a:pPr>
            <a:r>
              <a:rPr lang="en-US" sz="1300" i="1" dirty="0">
                <a:solidFill>
                  <a:schemeClr val="accent4"/>
                </a:solidFill>
              </a:rPr>
              <a:t>In-place sort: only O(V) extra</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Applications, Advantages and Limitations</a:t>
            </a:r>
            <a:endParaRPr lang="en-US" sz="3000" dirty="0"/>
          </a:p>
        </p:txBody>
      </p:sp>
      <p:sp>
        <p:nvSpPr>
          <p:cNvPr id="4" name="Applications header"/>
          <p:cNvSpPr txBox="1"/>
          <p:nvPr/>
        </p:nvSpPr>
        <p:spPr>
          <a:xfrm>
            <a:off x="457200" y="1188720"/>
            <a:ext cx="2651760" cy="457200"/>
          </a:xfrm>
          <a:prstGeom prst="roundRect">
            <a:avLst>
              <a:gd name="adj" fmla="val 16000"/>
            </a:avLst>
          </a:prstGeom>
          <a:solidFill>
            <a:schemeClr val="accent1"/>
          </a:solidFill>
          <a:ln w="12700">
            <a:solidFill>
              <a:schemeClr val="accent1"/>
            </a:solidFill>
          </a:ln>
        </p:spPr>
        <p:txBody>
          <a:bodyPr wrap="square" lIns="73152" tIns="73152" rIns="73152" bIns="73152" rtlCol="0" anchor="ctr"/>
          <a:lstStyle/>
          <a:p>
            <a:pPr algn="ctr" indent="0" marL="0">
              <a:buNone/>
            </a:pPr>
            <a:r>
              <a:rPr lang="en-US" sz="1600" b="1" dirty="0">
                <a:solidFill>
                  <a:schemeClr val="bg1"/>
                </a:solidFill>
              </a:rPr>
              <a:t>Applications</a:t>
            </a:r>
            <a:endParaRPr lang="en-US" sz="1600" dirty="0"/>
          </a:p>
        </p:txBody>
      </p:sp>
      <p:sp>
        <p:nvSpPr>
          <p:cNvPr id="5" name="Applications body"/>
          <p:cNvSpPr/>
          <p:nvPr/>
        </p:nvSpPr>
        <p:spPr>
          <a:xfrm>
            <a:off x="457200" y="1737360"/>
            <a:ext cx="2651760" cy="2743200"/>
          </a:xfrm>
          <a:prstGeom prst="roundRect">
            <a:avLst>
              <a:gd name="adj" fmla="val 2759"/>
            </a:avLst>
          </a:prstGeom>
          <a:solidFill>
            <a:schemeClr val="bg2"/>
          </a:solidFill>
          <a:ln w="12700">
            <a:solidFill>
              <a:schemeClr val="accent5"/>
            </a:solidFill>
            <a:prstDash val="solid"/>
          </a:ln>
        </p:spPr>
      </p:sp>
      <p:sp>
        <p:nvSpPr>
          <p:cNvPr id="6" name="Applications bullets"/>
          <p:cNvSpPr txBox="1"/>
          <p:nvPr/>
        </p:nvSpPr>
        <p:spPr>
          <a:xfrm>
            <a:off x="594360" y="1874520"/>
            <a:ext cx="237744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Computer and telecom network design</a:t>
            </a:r>
            <a:endParaRPr lang="en-US" sz="1500" dirty="0"/>
          </a:p>
          <a:p>
            <a:pPr marL="342900" indent="-342900">
              <a:spcAft>
                <a:spcPts val="1000"/>
              </a:spcAft>
              <a:buSzPct val="100000"/>
              <a:buChar char="•"/>
            </a:pPr>
            <a:r>
              <a:rPr lang="en-US" sz="1500" dirty="0">
                <a:solidFill>
                  <a:schemeClr val="tx1"/>
                </a:solidFill>
              </a:rPr>
              <a:t>Road, rail and pipeline planning</a:t>
            </a:r>
            <a:endParaRPr lang="en-US" sz="1500" dirty="0"/>
          </a:p>
          <a:p>
            <a:pPr marL="342900" indent="-342900">
              <a:spcAft>
                <a:spcPts val="1000"/>
              </a:spcAft>
              <a:buSzPct val="100000"/>
              <a:buChar char="•"/>
            </a:pPr>
            <a:r>
              <a:rPr lang="en-US" sz="1500" dirty="0">
                <a:solidFill>
                  <a:schemeClr val="tx1"/>
                </a:solidFill>
              </a:rPr>
              <a:t>Electrical grid and circuit wiring</a:t>
            </a:r>
            <a:endParaRPr lang="en-US" sz="1500" dirty="0"/>
          </a:p>
          <a:p>
            <a:pPr marL="342900" indent="-342900">
              <a:spcAft>
                <a:spcPts val="1000"/>
              </a:spcAft>
              <a:buSzPct val="100000"/>
              <a:buChar char="•"/>
            </a:pPr>
            <a:r>
              <a:rPr lang="en-US" sz="1500" dirty="0">
                <a:solidFill>
                  <a:schemeClr val="tx1"/>
                </a:solidFill>
              </a:rPr>
              <a:t>Data clustering in machine learning</a:t>
            </a:r>
            <a:endParaRPr lang="en-US" sz="1500" dirty="0"/>
          </a:p>
        </p:txBody>
      </p:sp>
      <p:sp>
        <p:nvSpPr>
          <p:cNvPr id="7" name="Advantages header"/>
          <p:cNvSpPr txBox="1"/>
          <p:nvPr/>
        </p:nvSpPr>
        <p:spPr>
          <a:xfrm>
            <a:off x="3246120" y="1188720"/>
            <a:ext cx="2651760" cy="457200"/>
          </a:xfrm>
          <a:prstGeom prst="roundRect">
            <a:avLst>
              <a:gd name="adj" fmla="val 16000"/>
            </a:avLst>
          </a:prstGeom>
          <a:solidFill>
            <a:schemeClr val="accent2"/>
          </a:solidFill>
          <a:ln w="12700">
            <a:solidFill>
              <a:schemeClr val="accent2"/>
            </a:solidFill>
          </a:ln>
        </p:spPr>
        <p:txBody>
          <a:bodyPr wrap="square" lIns="73152" tIns="73152" rIns="73152" bIns="73152" rtlCol="0" anchor="ctr"/>
          <a:lstStyle/>
          <a:p>
            <a:pPr algn="ctr" indent="0" marL="0">
              <a:buNone/>
            </a:pPr>
            <a:r>
              <a:rPr lang="en-US" sz="1600" b="1" dirty="0">
                <a:solidFill>
                  <a:schemeClr val="bg1"/>
                </a:solidFill>
              </a:rPr>
              <a:t>Advantages</a:t>
            </a:r>
            <a:endParaRPr lang="en-US" sz="1600" dirty="0"/>
          </a:p>
        </p:txBody>
      </p:sp>
      <p:sp>
        <p:nvSpPr>
          <p:cNvPr id="8" name="Advantages body"/>
          <p:cNvSpPr/>
          <p:nvPr/>
        </p:nvSpPr>
        <p:spPr>
          <a:xfrm>
            <a:off x="3246120" y="1737360"/>
            <a:ext cx="2651760" cy="2743200"/>
          </a:xfrm>
          <a:prstGeom prst="roundRect">
            <a:avLst>
              <a:gd name="adj" fmla="val 2759"/>
            </a:avLst>
          </a:prstGeom>
          <a:solidFill>
            <a:schemeClr val="bg2"/>
          </a:solidFill>
          <a:ln w="12700">
            <a:solidFill>
              <a:schemeClr val="accent5"/>
            </a:solidFill>
            <a:prstDash val="solid"/>
          </a:ln>
        </p:spPr>
      </p:sp>
      <p:sp>
        <p:nvSpPr>
          <p:cNvPr id="9" name="Advantages bullets"/>
          <p:cNvSpPr txBox="1"/>
          <p:nvPr/>
        </p:nvSpPr>
        <p:spPr>
          <a:xfrm>
            <a:off x="3383280" y="1874520"/>
            <a:ext cx="237744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Simple and easy to implement</a:t>
            </a:r>
            <a:endParaRPr lang="en-US" sz="1500" dirty="0"/>
          </a:p>
          <a:p>
            <a:pPr marL="342900" indent="-342900">
              <a:spcAft>
                <a:spcPts val="1000"/>
              </a:spcAft>
              <a:buSzPct val="100000"/>
              <a:buChar char="•"/>
            </a:pPr>
            <a:r>
              <a:rPr lang="en-US" sz="1500" dirty="0">
                <a:solidFill>
                  <a:schemeClr val="tx1"/>
                </a:solidFill>
              </a:rPr>
              <a:t>Efficient for sparse graphs</a:t>
            </a:r>
            <a:endParaRPr lang="en-US" sz="1500" dirty="0"/>
          </a:p>
          <a:p>
            <a:pPr marL="342900" indent="-342900">
              <a:spcAft>
                <a:spcPts val="1000"/>
              </a:spcAft>
              <a:buSzPct val="100000"/>
              <a:buChar char="•"/>
            </a:pPr>
            <a:r>
              <a:rPr lang="en-US" sz="1500" dirty="0">
                <a:solidFill>
                  <a:schemeClr val="tx1"/>
                </a:solidFill>
              </a:rPr>
              <a:t>Works on disconnected graphs (gives a forest)</a:t>
            </a:r>
            <a:endParaRPr lang="en-US" sz="1500" dirty="0"/>
          </a:p>
          <a:p>
            <a:pPr marL="342900" indent="-342900">
              <a:spcAft>
                <a:spcPts val="1000"/>
              </a:spcAft>
              <a:buSzPct val="100000"/>
              <a:buChar char="•"/>
            </a:pPr>
            <a:r>
              <a:rPr lang="en-US" sz="1500" dirty="0">
                <a:solidFill>
                  <a:schemeClr val="tx1"/>
                </a:solidFill>
              </a:rPr>
              <a:t>Handles any edge weights, even negative</a:t>
            </a:r>
            <a:endParaRPr lang="en-US" sz="1500" dirty="0"/>
          </a:p>
        </p:txBody>
      </p:sp>
      <p:sp>
        <p:nvSpPr>
          <p:cNvPr id="10" name="Limitations header"/>
          <p:cNvSpPr txBox="1"/>
          <p:nvPr/>
        </p:nvSpPr>
        <p:spPr>
          <a:xfrm>
            <a:off x="6035040" y="1188720"/>
            <a:ext cx="2651760" cy="457200"/>
          </a:xfrm>
          <a:prstGeom prst="roundRect">
            <a:avLst>
              <a:gd name="adj" fmla="val 16000"/>
            </a:avLst>
          </a:prstGeom>
          <a:solidFill>
            <a:schemeClr val="accent3"/>
          </a:solidFill>
          <a:ln w="12700">
            <a:solidFill>
              <a:schemeClr val="accent3"/>
            </a:solidFill>
          </a:ln>
        </p:spPr>
        <p:txBody>
          <a:bodyPr wrap="square" lIns="73152" tIns="73152" rIns="73152" bIns="73152" rtlCol="0" anchor="ctr"/>
          <a:lstStyle/>
          <a:p>
            <a:pPr algn="ctr" indent="0" marL="0">
              <a:buNone/>
            </a:pPr>
            <a:r>
              <a:rPr lang="en-US" sz="1600" b="1" dirty="0">
                <a:solidFill>
                  <a:schemeClr val="bg1"/>
                </a:solidFill>
              </a:rPr>
              <a:t>Limitations</a:t>
            </a:r>
            <a:endParaRPr lang="en-US" sz="1600" dirty="0"/>
          </a:p>
        </p:txBody>
      </p:sp>
      <p:sp>
        <p:nvSpPr>
          <p:cNvPr id="11" name="Limitations body"/>
          <p:cNvSpPr/>
          <p:nvPr/>
        </p:nvSpPr>
        <p:spPr>
          <a:xfrm>
            <a:off x="6035040" y="1737360"/>
            <a:ext cx="2651760" cy="2743200"/>
          </a:xfrm>
          <a:prstGeom prst="roundRect">
            <a:avLst>
              <a:gd name="adj" fmla="val 2759"/>
            </a:avLst>
          </a:prstGeom>
          <a:solidFill>
            <a:schemeClr val="bg2"/>
          </a:solidFill>
          <a:ln w="12700">
            <a:solidFill>
              <a:schemeClr val="accent5"/>
            </a:solidFill>
            <a:prstDash val="solid"/>
          </a:ln>
        </p:spPr>
      </p:sp>
      <p:sp>
        <p:nvSpPr>
          <p:cNvPr id="12" name="Limitations bullets"/>
          <p:cNvSpPr txBox="1"/>
          <p:nvPr/>
        </p:nvSpPr>
        <p:spPr>
          <a:xfrm>
            <a:off x="6172200" y="1874520"/>
            <a:ext cx="237744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Needs all edges sorted first</a:t>
            </a:r>
            <a:endParaRPr lang="en-US" sz="1500" dirty="0"/>
          </a:p>
          <a:p>
            <a:pPr marL="342900" indent="-342900">
              <a:spcAft>
                <a:spcPts val="1000"/>
              </a:spcAft>
              <a:buSzPct val="100000"/>
              <a:buChar char="•"/>
            </a:pPr>
            <a:r>
              <a:rPr lang="en-US" sz="1500" dirty="0">
                <a:solidFill>
                  <a:schemeClr val="tx1"/>
                </a:solidFill>
              </a:rPr>
              <a:t>Slower than Prim’s on dense graphs</a:t>
            </a:r>
            <a:endParaRPr lang="en-US" sz="1500" dirty="0"/>
          </a:p>
          <a:p>
            <a:pPr marL="342900" indent="-342900">
              <a:spcAft>
                <a:spcPts val="1000"/>
              </a:spcAft>
              <a:buSzPct val="100000"/>
              <a:buChar char="•"/>
            </a:pPr>
            <a:r>
              <a:rPr lang="en-US" sz="1500" dirty="0">
                <a:solidFill>
                  <a:schemeClr val="tx1"/>
                </a:solidFill>
              </a:rPr>
              <a:t>Needs Union-Find to be fast</a:t>
            </a:r>
            <a:endParaRPr lang="en-US" sz="1500" dirty="0"/>
          </a:p>
          <a:p>
            <a:pPr marL="342900" indent="-342900">
              <a:spcAft>
                <a:spcPts val="1000"/>
              </a:spcAft>
              <a:buSzPct val="100000"/>
              <a:buChar char="•"/>
            </a:pPr>
            <a:r>
              <a:rPr lang="en-US" sz="1500" dirty="0">
                <a:solidFill>
                  <a:schemeClr val="tx1"/>
                </a:solidFill>
              </a:rPr>
              <a:t>Works only on undirected graphs</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hank you"/>
          <p:cNvSpPr txBox="1"/>
          <p:nvPr/>
        </p:nvSpPr>
        <p:spPr>
          <a:xfrm>
            <a:off x="548640" y="731520"/>
            <a:ext cx="4206240" cy="868680"/>
          </a:xfrm>
          <a:prstGeom prst="rect">
            <a:avLst/>
          </a:prstGeom>
          <a:noFill/>
          <a:ln/>
        </p:spPr>
        <p:txBody>
          <a:bodyPr wrap="square" lIns="0" tIns="0" rIns="0" bIns="0" rtlCol="0" anchor="ctr"/>
          <a:lstStyle/>
          <a:p>
            <a:pPr algn="l" indent="0" marL="0">
              <a:buNone/>
            </a:pPr>
            <a:r>
              <a:rPr lang="en-US" sz="4400" b="1" dirty="0">
                <a:solidFill>
                  <a:schemeClr val="tx2"/>
                </a:solidFill>
                <a:latin typeface="+mj-lt" pitchFamily="34" charset="0"/>
                <a:ea typeface="+mj-lt" pitchFamily="34" charset="-122"/>
                <a:cs typeface="+mj-lt" pitchFamily="34" charset="-120"/>
              </a:rPr>
              <a:t>Thank You</a:t>
            </a:r>
            <a:endParaRPr lang="en-US" sz="4400" dirty="0"/>
          </a:p>
        </p:txBody>
      </p:sp>
      <p:sp>
        <p:nvSpPr>
          <p:cNvPr id="4" name="Questions"/>
          <p:cNvSpPr txBox="1"/>
          <p:nvPr/>
        </p:nvSpPr>
        <p:spPr>
          <a:xfrm>
            <a:off x="548640" y="1645920"/>
            <a:ext cx="4206240" cy="548640"/>
          </a:xfrm>
          <a:prstGeom prst="rect">
            <a:avLst/>
          </a:prstGeom>
          <a:noFill/>
          <a:ln/>
        </p:spPr>
        <p:txBody>
          <a:bodyPr wrap="square" lIns="0" tIns="0" rIns="0" bIns="0" rtlCol="0" anchor="ctr"/>
          <a:lstStyle/>
          <a:p>
            <a:pPr algn="l" indent="0" marL="0">
              <a:buNone/>
            </a:pPr>
            <a:r>
              <a:rPr lang="en-US" sz="2800" b="1" dirty="0">
                <a:solidFill>
                  <a:schemeClr val="accent2"/>
                </a:solidFill>
              </a:rPr>
              <a:t>Questions?</a:t>
            </a:r>
            <a:endParaRPr lang="en-US" sz="2800" dirty="0"/>
          </a:p>
        </p:txBody>
      </p:sp>
      <p:sp>
        <p:nvSpPr>
          <p:cNvPr id="5" name="Takeaways heading"/>
          <p:cNvSpPr txBox="1"/>
          <p:nvPr/>
        </p:nvSpPr>
        <p:spPr>
          <a:xfrm>
            <a:off x="548640" y="2468880"/>
            <a:ext cx="4023360" cy="320040"/>
          </a:xfrm>
          <a:prstGeom prst="rect">
            <a:avLst/>
          </a:prstGeom>
          <a:noFill/>
          <a:ln/>
        </p:spPr>
        <p:txBody>
          <a:bodyPr wrap="square" lIns="0" tIns="0" rIns="0" bIns="0" rtlCol="0" anchor="ctr"/>
          <a:lstStyle/>
          <a:p>
            <a:pPr algn="l" indent="0" marL="0">
              <a:buNone/>
            </a:pPr>
            <a:r>
              <a:rPr lang="en-US" sz="1600" b="1" dirty="0">
                <a:solidFill>
                  <a:schemeClr val="tx2"/>
                </a:solidFill>
              </a:rPr>
              <a:t>Key takeaways</a:t>
            </a:r>
            <a:endParaRPr lang="en-US" sz="1600" dirty="0"/>
          </a:p>
        </p:txBody>
      </p:sp>
      <p:sp>
        <p:nvSpPr>
          <p:cNvPr id="6" name="Takeaways"/>
          <p:cNvSpPr txBox="1"/>
          <p:nvPr/>
        </p:nvSpPr>
        <p:spPr>
          <a:xfrm>
            <a:off x="548640" y="2834640"/>
            <a:ext cx="402336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MST: A–B, B–C, B–D, C–E; total weight 13</a:t>
            </a:r>
            <a:endParaRPr lang="en-US" sz="1400" dirty="0"/>
          </a:p>
          <a:p>
            <a:pPr marL="342900" indent="-342900">
              <a:spcAft>
                <a:spcPts val="600"/>
              </a:spcAft>
              <a:buSzPct val="100000"/>
              <a:buChar char="•"/>
            </a:pPr>
            <a:r>
              <a:rPr lang="en-US" sz="1400" dirty="0">
                <a:solidFill>
                  <a:schemeClr val="tx1"/>
                </a:solidFill>
              </a:rPr>
              <a:t>Greedy choice + Union-Find cycle check</a:t>
            </a:r>
            <a:endParaRPr lang="en-US" sz="1400" dirty="0"/>
          </a:p>
          <a:p>
            <a:pPr marL="342900" indent="-342900">
              <a:spcAft>
                <a:spcPts val="600"/>
              </a:spcAft>
              <a:buSzPct val="100000"/>
              <a:buChar char="•"/>
            </a:pPr>
            <a:r>
              <a:rPr lang="en-US" sz="1400" dirty="0">
                <a:solidFill>
                  <a:schemeClr val="tx1"/>
                </a:solidFill>
              </a:rPr>
              <a:t>Time O(E log E); space O(V + E)</a:t>
            </a:r>
            <a:endParaRPr lang="en-US" sz="1400" dirty="0"/>
          </a:p>
        </p:txBody>
      </p:sp>
      <p:sp>
        <p:nvSpPr>
          <p:cNvPr id="7" name="Presenter"/>
          <p:cNvSpPr txBox="1"/>
          <p:nvPr/>
        </p:nvSpPr>
        <p:spPr>
          <a:xfrm>
            <a:off x="548640" y="4206240"/>
            <a:ext cx="4023360" cy="320040"/>
          </a:xfrm>
          <a:prstGeom prst="rect">
            <a:avLst/>
          </a:prstGeom>
          <a:noFill/>
          <a:ln/>
        </p:spPr>
        <p:txBody>
          <a:bodyPr wrap="square" lIns="0" tIns="0" rIns="0" bIns="0" rtlCol="0" anchor="ctr"/>
          <a:lstStyle/>
          <a:p>
            <a:pPr algn="l" indent="0" marL="0">
              <a:buNone/>
            </a:pPr>
            <a:r>
              <a:rPr lang="en-US" sz="1400" dirty="0">
                <a:solidFill>
                  <a:schemeClr val="accent4"/>
                </a:solidFill>
              </a:rPr>
              <a:t>Presented by Saumya Jade  |  DAA</a:t>
            </a:r>
            <a:endParaRPr lang="en-US" sz="1400" dirty="0"/>
          </a:p>
        </p:txBody>
      </p:sp>
      <p:sp>
        <p:nvSpPr>
          <p:cNvPr id="8" name="Made by Claude"/>
          <p:cNvSpPr txBox="1"/>
          <p:nvPr/>
        </p:nvSpPr>
        <p:spPr>
          <a:xfrm>
            <a:off x="548640" y="4553712"/>
            <a:ext cx="4206240" cy="274320"/>
          </a:xfrm>
          <a:prstGeom prst="rect">
            <a:avLst/>
          </a:prstGeom>
          <a:noFill/>
          <a:ln/>
        </p:spPr>
        <p:txBody>
          <a:bodyPr wrap="square" lIns="0" tIns="0" rIns="0" bIns="0" rtlCol="0" anchor="ctr"/>
          <a:lstStyle/>
          <a:p>
            <a:pPr algn="l" indent="0" marL="0">
              <a:buNone/>
            </a:pPr>
            <a:r>
              <a:rPr lang="en-US" sz="1200" i="1" dirty="0">
                <a:solidFill>
                  <a:schemeClr val="accent4"/>
                </a:solidFill>
              </a:rPr>
              <a:t>Made by Claude (AI assistant by Anthropic)</a:t>
            </a:r>
            <a:endParaRPr lang="en-US" sz="1200" dirty="0"/>
          </a:p>
        </p:txBody>
      </p:sp>
      <p:sp>
        <p:nvSpPr>
          <p:cNvPr id="9" name="Closing graph edge A-B"/>
          <p:cNvSpPr/>
          <p:nvPr/>
        </p:nvSpPr>
        <p:spPr>
          <a:xfrm flipV="1">
            <a:off x="5001768" y="1527048"/>
            <a:ext cx="2020824" cy="1088136"/>
          </a:xfrm>
          <a:prstGeom prst="line">
            <a:avLst/>
          </a:prstGeom>
          <a:noFill/>
          <a:ln w="50800">
            <a:solidFill>
              <a:schemeClr val="accent2"/>
            </a:solidFill>
            <a:prstDash val="solid"/>
          </a:ln>
        </p:spPr>
      </p:sp>
      <p:sp>
        <p:nvSpPr>
          <p:cNvPr id="10" name="Closing graph edge B-C"/>
          <p:cNvSpPr/>
          <p:nvPr/>
        </p:nvSpPr>
        <p:spPr>
          <a:xfrm flipH="1">
            <a:off x="6245352" y="1527048"/>
            <a:ext cx="777240" cy="2176272"/>
          </a:xfrm>
          <a:prstGeom prst="line">
            <a:avLst/>
          </a:prstGeom>
          <a:noFill/>
          <a:ln w="50800">
            <a:solidFill>
              <a:schemeClr val="accent2"/>
            </a:solidFill>
            <a:prstDash val="solid"/>
          </a:ln>
        </p:spPr>
      </p:sp>
      <p:sp>
        <p:nvSpPr>
          <p:cNvPr id="11" name="Closing graph edge A-C"/>
          <p:cNvSpPr/>
          <p:nvPr/>
        </p:nvSpPr>
        <p:spPr>
          <a:xfrm>
            <a:off x="5001768" y="2615184"/>
            <a:ext cx="1243584" cy="1088136"/>
          </a:xfrm>
          <a:prstGeom prst="line">
            <a:avLst/>
          </a:prstGeom>
          <a:noFill/>
          <a:ln w="22225">
            <a:solidFill>
              <a:schemeClr val="accent5"/>
            </a:solidFill>
            <a:prstDash val="dash"/>
          </a:ln>
        </p:spPr>
      </p:sp>
      <p:sp>
        <p:nvSpPr>
          <p:cNvPr id="12" name="Closing graph edge B-D"/>
          <p:cNvSpPr/>
          <p:nvPr/>
        </p:nvSpPr>
        <p:spPr>
          <a:xfrm>
            <a:off x="7022592" y="1527048"/>
            <a:ext cx="1399032" cy="2176272"/>
          </a:xfrm>
          <a:prstGeom prst="line">
            <a:avLst/>
          </a:prstGeom>
          <a:noFill/>
          <a:ln w="50800">
            <a:solidFill>
              <a:schemeClr val="accent2"/>
            </a:solidFill>
            <a:prstDash val="solid"/>
          </a:ln>
        </p:spPr>
      </p:sp>
      <p:sp>
        <p:nvSpPr>
          <p:cNvPr id="13" name="Closing graph edge C-D"/>
          <p:cNvSpPr/>
          <p:nvPr/>
        </p:nvSpPr>
        <p:spPr>
          <a:xfrm>
            <a:off x="6245352" y="3703320"/>
            <a:ext cx="2176272" cy="0"/>
          </a:xfrm>
          <a:prstGeom prst="line">
            <a:avLst/>
          </a:prstGeom>
          <a:noFill/>
          <a:ln w="22225">
            <a:solidFill>
              <a:schemeClr val="accent5"/>
            </a:solidFill>
            <a:prstDash val="dash"/>
          </a:ln>
        </p:spPr>
      </p:sp>
      <p:sp>
        <p:nvSpPr>
          <p:cNvPr id="14" name="Closing graph edge C-E"/>
          <p:cNvSpPr/>
          <p:nvPr/>
        </p:nvSpPr>
        <p:spPr>
          <a:xfrm flipV="1">
            <a:off x="6245352" y="2770632"/>
            <a:ext cx="1010412" cy="932688"/>
          </a:xfrm>
          <a:prstGeom prst="line">
            <a:avLst/>
          </a:prstGeom>
          <a:noFill/>
          <a:ln w="50800">
            <a:solidFill>
              <a:schemeClr val="accent2"/>
            </a:solidFill>
            <a:prstDash val="solid"/>
          </a:ln>
        </p:spPr>
      </p:sp>
      <p:sp>
        <p:nvSpPr>
          <p:cNvPr id="15" name="Closing graph edge D-E"/>
          <p:cNvSpPr/>
          <p:nvPr/>
        </p:nvSpPr>
        <p:spPr>
          <a:xfrm flipH="1" flipV="1">
            <a:off x="7255764" y="2770632"/>
            <a:ext cx="1165860" cy="932688"/>
          </a:xfrm>
          <a:prstGeom prst="line">
            <a:avLst/>
          </a:prstGeom>
          <a:noFill/>
          <a:ln w="22225">
            <a:solidFill>
              <a:schemeClr val="accent5"/>
            </a:solidFill>
            <a:prstDash val="dash"/>
          </a:ln>
        </p:spPr>
      </p:sp>
      <p:sp>
        <p:nvSpPr>
          <p:cNvPr id="16" name="Closing graph edge B-E"/>
          <p:cNvSpPr/>
          <p:nvPr/>
        </p:nvSpPr>
        <p:spPr>
          <a:xfrm>
            <a:off x="7022592" y="1527048"/>
            <a:ext cx="233172" cy="1243584"/>
          </a:xfrm>
          <a:prstGeom prst="line">
            <a:avLst/>
          </a:prstGeom>
          <a:noFill/>
          <a:ln w="22225">
            <a:solidFill>
              <a:schemeClr val="accent5"/>
            </a:solidFill>
            <a:prstDash val="dash"/>
          </a:ln>
        </p:spPr>
      </p:sp>
      <p:sp>
        <p:nvSpPr>
          <p:cNvPr id="17" name="Closing graph weight A-B"/>
          <p:cNvSpPr txBox="1"/>
          <p:nvPr/>
        </p:nvSpPr>
        <p:spPr>
          <a:xfrm>
            <a:off x="5865876" y="1952244"/>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18" name="Closing graph weight B-C"/>
          <p:cNvSpPr txBox="1"/>
          <p:nvPr/>
        </p:nvSpPr>
        <p:spPr>
          <a:xfrm>
            <a:off x="6487668" y="2496312"/>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2"/>
                </a:solidFill>
              </a:rPr>
              <a:t>2</a:t>
            </a:r>
            <a:endParaRPr lang="en-US" sz="1200" dirty="0"/>
          </a:p>
        </p:txBody>
      </p:sp>
      <p:sp>
        <p:nvSpPr>
          <p:cNvPr id="19" name="Closing graph weight A-C"/>
          <p:cNvSpPr txBox="1"/>
          <p:nvPr/>
        </p:nvSpPr>
        <p:spPr>
          <a:xfrm>
            <a:off x="5477256" y="3040380"/>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4"/>
                </a:solidFill>
              </a:rPr>
              <a:t>3</a:t>
            </a:r>
            <a:endParaRPr lang="en-US" sz="1200" dirty="0"/>
          </a:p>
        </p:txBody>
      </p:sp>
      <p:sp>
        <p:nvSpPr>
          <p:cNvPr id="20" name="Closing graph weight B-D"/>
          <p:cNvSpPr txBox="1"/>
          <p:nvPr/>
        </p:nvSpPr>
        <p:spPr>
          <a:xfrm>
            <a:off x="7575804" y="2496312"/>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2"/>
                </a:solidFill>
              </a:rPr>
              <a:t>4</a:t>
            </a:r>
            <a:endParaRPr lang="en-US" sz="1200" dirty="0"/>
          </a:p>
        </p:txBody>
      </p:sp>
      <p:sp>
        <p:nvSpPr>
          <p:cNvPr id="21" name="Closing graph weight C-D"/>
          <p:cNvSpPr txBox="1"/>
          <p:nvPr/>
        </p:nvSpPr>
        <p:spPr>
          <a:xfrm>
            <a:off x="7187184" y="3584448"/>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4"/>
                </a:solidFill>
              </a:rPr>
              <a:t>5</a:t>
            </a:r>
            <a:endParaRPr lang="en-US" sz="1200" dirty="0"/>
          </a:p>
        </p:txBody>
      </p:sp>
      <p:sp>
        <p:nvSpPr>
          <p:cNvPr id="22" name="Closing graph weight C-E"/>
          <p:cNvSpPr txBox="1"/>
          <p:nvPr/>
        </p:nvSpPr>
        <p:spPr>
          <a:xfrm>
            <a:off x="6604254" y="3118104"/>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2"/>
                </a:solidFill>
              </a:rPr>
              <a:t>6</a:t>
            </a:r>
            <a:endParaRPr lang="en-US" sz="1200" dirty="0"/>
          </a:p>
        </p:txBody>
      </p:sp>
      <p:sp>
        <p:nvSpPr>
          <p:cNvPr id="23" name="Closing graph weight D-E"/>
          <p:cNvSpPr txBox="1"/>
          <p:nvPr/>
        </p:nvSpPr>
        <p:spPr>
          <a:xfrm>
            <a:off x="7692390" y="3118104"/>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4"/>
                </a:solidFill>
              </a:rPr>
              <a:t>7</a:t>
            </a:r>
            <a:endParaRPr lang="en-US" sz="1200" dirty="0"/>
          </a:p>
        </p:txBody>
      </p:sp>
      <p:sp>
        <p:nvSpPr>
          <p:cNvPr id="24" name="Closing graph weight B-E"/>
          <p:cNvSpPr txBox="1"/>
          <p:nvPr/>
        </p:nvSpPr>
        <p:spPr>
          <a:xfrm>
            <a:off x="6992874" y="2029968"/>
            <a:ext cx="292608" cy="237744"/>
          </a:xfrm>
          <a:prstGeom prst="rect">
            <a:avLst/>
          </a:prstGeom>
          <a:solidFill>
            <a:schemeClr val="bg1"/>
          </a:solidFill>
          <a:ln/>
        </p:spPr>
        <p:txBody>
          <a:bodyPr wrap="square" lIns="0" tIns="0" rIns="0" bIns="0" rtlCol="0" anchor="ctr"/>
          <a:lstStyle/>
          <a:p>
            <a:pPr algn="ctr" indent="0" marL="0">
              <a:buNone/>
            </a:pPr>
            <a:r>
              <a:rPr lang="en-US" sz="1200" b="1" dirty="0">
                <a:solidFill>
                  <a:schemeClr val="accent4"/>
                </a:solidFill>
              </a:rPr>
              <a:t>8</a:t>
            </a:r>
            <a:endParaRPr lang="en-US" sz="1200" dirty="0"/>
          </a:p>
        </p:txBody>
      </p:sp>
      <p:sp>
        <p:nvSpPr>
          <p:cNvPr id="25" name="Closing graph vertex A"/>
          <p:cNvSpPr txBox="1"/>
          <p:nvPr/>
        </p:nvSpPr>
        <p:spPr>
          <a:xfrm>
            <a:off x="4799686" y="2413102"/>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26" name="Closing graph vertex B"/>
          <p:cNvSpPr txBox="1"/>
          <p:nvPr/>
        </p:nvSpPr>
        <p:spPr>
          <a:xfrm>
            <a:off x="6820510" y="1324966"/>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7" name="Closing graph vertex C"/>
          <p:cNvSpPr txBox="1"/>
          <p:nvPr/>
        </p:nvSpPr>
        <p:spPr>
          <a:xfrm>
            <a:off x="6043270" y="3501238"/>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8" name="Closing graph vertex D"/>
          <p:cNvSpPr txBox="1"/>
          <p:nvPr/>
        </p:nvSpPr>
        <p:spPr>
          <a:xfrm>
            <a:off x="8219542" y="3501238"/>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9" name="Closing graph vertex E"/>
          <p:cNvSpPr txBox="1"/>
          <p:nvPr/>
        </p:nvSpPr>
        <p:spPr>
          <a:xfrm>
            <a:off x="7053682" y="2568550"/>
            <a:ext cx="404165" cy="404165"/>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30" name="Graph caption"/>
          <p:cNvSpPr txBox="1"/>
          <p:nvPr/>
        </p:nvSpPr>
        <p:spPr>
          <a:xfrm>
            <a:off x="4846320" y="4114800"/>
            <a:ext cx="3657600" cy="274320"/>
          </a:xfrm>
          <a:prstGeom prst="rect">
            <a:avLst/>
          </a:prstGeom>
          <a:noFill/>
          <a:ln/>
        </p:spPr>
        <p:txBody>
          <a:bodyPr wrap="square" lIns="0" tIns="0" rIns="0" bIns="0" rtlCol="0" anchor="ctr"/>
          <a:lstStyle/>
          <a:p>
            <a:pPr algn="ctr" indent="0" marL="0">
              <a:buNone/>
            </a:pPr>
            <a:r>
              <a:rPr lang="en-US" sz="1200" dirty="0">
                <a:solidFill>
                  <a:schemeClr val="accent4"/>
                </a:solidFill>
              </a:rPr>
              <a:t>Minimum Spanning Tree, total weight = 13</a:t>
            </a:r>
            <a:endParaRPr lang="en-US" sz="1200" dirty="0"/>
          </a:p>
        </p:txBody>
      </p:sp>
    </p:spTree>
  </p:cSld>
  <p:clrMapOvr>
    <a:masterClrMapping/>
  </p:clrMapOvr>
</p:sld>
</file>

<file path=ppt/theme/theme1.xml><?xml version="1.0" encoding="utf-8"?>
<a:theme xmlns:a="http://schemas.openxmlformats.org/drawingml/2006/main" name="Kruskal Navy">
  <a:themeElements>
    <a:clrScheme name="Kruskal Navy">
      <a:dk1>
        <a:srgbClr val="1F2937"/>
      </a:dk1>
      <a:lt1>
        <a:srgbClr val="FFFFFF"/>
      </a:lt1>
      <a:dk2>
        <a:srgbClr val="14285B"/>
      </a:dk2>
      <a:lt2>
        <a:srgbClr val="EEF2F8"/>
      </a:lt2>
      <a:accent1>
        <a:srgbClr val="14285B"/>
      </a:accent1>
      <a:accent2>
        <a:srgbClr val="1E8449"/>
      </a:accent2>
      <a:accent3>
        <a:srgbClr val="C0392B"/>
      </a:accent3>
      <a:accent4>
        <a:srgbClr val="5B6B8C"/>
      </a:accent4>
      <a:accent5>
        <a:srgbClr val="B8C4D9"/>
      </a:accent5>
      <a:accent6>
        <a:srgbClr val="E3F4E8"/>
      </a:accent6>
      <a:hlink>
        <a:srgbClr val="14285B"/>
      </a:hlink>
      <a:folHlink>
        <a:srgbClr val="5B6B8C"/>
      </a:folHlink>
    </a:clrScheme>
    <a:fontScheme name="Kruskal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Kruskal's Algorithm - Design and Analysis of Algorithms</dc:title>
  <dc:subject>DAA - Minimum Spanning Tree</dc:subject>
  <dc:creator>Saumya Jade</dc:creator>
  <cp:lastModifiedBy>Saumya Jade</cp:lastModifiedBy>
  <cp:revision>1</cp:revision>
  <dcterms:created xsi:type="dcterms:W3CDTF">2026-10-18T14:06:39Z</dcterms:created>
  <dcterms:modified xsi:type="dcterms:W3CDTF">2026-10-18T14:06:39Z</dcterms:modified>
</cp:coreProperties>
</file>